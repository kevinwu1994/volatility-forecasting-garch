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2B0B8-7196-4050-91B2-EF53782DBC24}" v="272" dt="2026-04-27T22:33:12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21" autoAdjust="0"/>
  </p:normalViewPr>
  <p:slideViewPr>
    <p:cSldViewPr snapToGrid="0">
      <p:cViewPr varScale="1">
        <p:scale>
          <a:sx n="131" d="100"/>
          <a:sy n="131" d="100"/>
        </p:scale>
        <p:origin x="138" y="300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nglei Wu" userId="828226bcb4b7d480" providerId="LiveId" clId="{EEAF5C2D-A027-4356-8A1D-C45EA2232EDA}"/>
    <pc:docChg chg="undo redo custSel addSld delSld modSld">
      <pc:chgData name="Fenglei Wu" userId="828226bcb4b7d480" providerId="LiveId" clId="{EEAF5C2D-A027-4356-8A1D-C45EA2232EDA}" dt="2026-04-27T22:33:12.813" v="852"/>
      <pc:docMkLst>
        <pc:docMk/>
      </pc:docMkLst>
      <pc:sldChg chg="modSp mod modNotes modNotesTx">
        <pc:chgData name="Fenglei Wu" userId="828226bcb4b7d480" providerId="LiveId" clId="{EEAF5C2D-A027-4356-8A1D-C45EA2232EDA}" dt="2026-04-27T22:33:12.813" v="852"/>
        <pc:sldMkLst>
          <pc:docMk/>
          <pc:sldMk cId="0" sldId="256"/>
        </pc:sldMkLst>
        <pc:spChg chg="mod">
          <ac:chgData name="Fenglei Wu" userId="828226bcb4b7d480" providerId="LiveId" clId="{EEAF5C2D-A027-4356-8A1D-C45EA2232EDA}" dt="2026-04-16T22:23:06.098" v="134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 mod modNotes modNotesTx">
        <pc:chgData name="Fenglei Wu" userId="828226bcb4b7d480" providerId="LiveId" clId="{EEAF5C2D-A027-4356-8A1D-C45EA2232EDA}" dt="2026-04-27T22:33:12.813" v="852"/>
        <pc:sldMkLst>
          <pc:docMk/>
          <pc:sldMk cId="0" sldId="257"/>
        </pc:sldMkLst>
        <pc:spChg chg="mod">
          <ac:chgData name="Fenglei Wu" userId="828226bcb4b7d480" providerId="LiveId" clId="{EEAF5C2D-A027-4356-8A1D-C45EA2232EDA}" dt="2026-04-16T22:25:47.087" v="142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6T06:25:22.089" v="19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Fenglei Wu" userId="828226bcb4b7d480" providerId="LiveId" clId="{EEAF5C2D-A027-4356-8A1D-C45EA2232EDA}" dt="2026-04-16T06:25:24.065" v="20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Fenglei Wu" userId="828226bcb4b7d480" providerId="LiveId" clId="{EEAF5C2D-A027-4356-8A1D-C45EA2232EDA}" dt="2026-04-16T22:26:40.186" v="16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Fenglei Wu" userId="828226bcb4b7d480" providerId="LiveId" clId="{EEAF5C2D-A027-4356-8A1D-C45EA2232EDA}" dt="2026-04-16T22:27:30.050" v="169" actId="20577"/>
          <ac:spMkLst>
            <pc:docMk/>
            <pc:sldMk cId="0" sldId="257"/>
            <ac:spMk id="68" creationId="{605AAAE4-1B1C-4F4F-B094-3D485C459CBC}"/>
          </ac:spMkLst>
        </pc:spChg>
        <pc:spChg chg="mod">
          <ac:chgData name="Fenglei Wu" userId="828226bcb4b7d480" providerId="LiveId" clId="{EEAF5C2D-A027-4356-8A1D-C45EA2232EDA}" dt="2026-04-16T22:27:10.121" v="166" actId="20577"/>
          <ac:spMkLst>
            <pc:docMk/>
            <pc:sldMk cId="0" sldId="257"/>
            <ac:spMk id="73" creationId="{68283B3B-13AC-5152-8F0D-37B8985408E6}"/>
          </ac:spMkLst>
        </pc:spChg>
        <pc:spChg chg="mod">
          <ac:chgData name="Fenglei Wu" userId="828226bcb4b7d480" providerId="LiveId" clId="{EEAF5C2D-A027-4356-8A1D-C45EA2232EDA}" dt="2026-04-16T22:27:52.135" v="178" actId="20577"/>
          <ac:spMkLst>
            <pc:docMk/>
            <pc:sldMk cId="0" sldId="257"/>
            <ac:spMk id="78" creationId="{C9BDD18E-38EF-A6FE-BB7F-3C016D181C71}"/>
          </ac:spMkLst>
        </pc:spChg>
      </pc:sldChg>
      <pc:sldChg chg="addSp delSp modSp mod modNotes modNotesTx">
        <pc:chgData name="Fenglei Wu" userId="828226bcb4b7d480" providerId="LiveId" clId="{EEAF5C2D-A027-4356-8A1D-C45EA2232EDA}" dt="2026-04-27T22:33:12.813" v="852"/>
        <pc:sldMkLst>
          <pc:docMk/>
          <pc:sldMk cId="0" sldId="258"/>
        </pc:sldMkLst>
        <pc:spChg chg="mod">
          <ac:chgData name="Fenglei Wu" userId="828226bcb4b7d480" providerId="LiveId" clId="{EEAF5C2D-A027-4356-8A1D-C45EA2232EDA}" dt="2026-04-16T22:52:26.045" v="226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4:43.803" v="18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4:58.104" v="190" actId="12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5:32.431" v="19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5:40.698" v="195" actId="12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5:49.262" v="19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5:59.847" v="200" actId="12"/>
          <ac:spMkLst>
            <pc:docMk/>
            <pc:sldMk cId="0" sldId="258"/>
            <ac:spMk id="19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6:07.459" v="202"/>
          <ac:spMkLst>
            <pc:docMk/>
            <pc:sldMk cId="0" sldId="258"/>
            <ac:spMk id="23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6:18.304" v="206" actId="1410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6:37.355" v="211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Fenglei Wu" userId="828226bcb4b7d480" providerId="LiveId" clId="{EEAF5C2D-A027-4356-8A1D-C45EA2232EDA}" dt="2026-04-16T22:46:40.994" v="212" actId="1076"/>
          <ac:spMkLst>
            <pc:docMk/>
            <pc:sldMk cId="0" sldId="258"/>
            <ac:spMk id="30" creationId="{00000000-0000-0000-0000-000000000000}"/>
          </ac:spMkLst>
        </pc:spChg>
      </pc:sldChg>
      <pc:sldChg chg="modSp mod modNotes">
        <pc:chgData name="Fenglei Wu" userId="828226bcb4b7d480" providerId="LiveId" clId="{EEAF5C2D-A027-4356-8A1D-C45EA2232EDA}" dt="2026-04-27T22:33:12.813" v="852"/>
        <pc:sldMkLst>
          <pc:docMk/>
          <pc:sldMk cId="0" sldId="260"/>
        </pc:sldMkLst>
        <pc:spChg chg="mod">
          <ac:chgData name="Fenglei Wu" userId="828226bcb4b7d480" providerId="LiveId" clId="{EEAF5C2D-A027-4356-8A1D-C45EA2232EDA}" dt="2026-04-17T16:37:37.111" v="231"/>
          <ac:spMkLst>
            <pc:docMk/>
            <pc:sldMk cId="0" sldId="260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6:38:10.790" v="242" actId="20577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 modNotes modNotesTx">
        <pc:chgData name="Fenglei Wu" userId="828226bcb4b7d480" providerId="LiveId" clId="{EEAF5C2D-A027-4356-8A1D-C45EA2232EDA}" dt="2026-04-27T22:33:12.813" v="852"/>
        <pc:sldMkLst>
          <pc:docMk/>
          <pc:sldMk cId="0" sldId="261"/>
        </pc:sldMkLst>
        <pc:spChg chg="mod">
          <ac:chgData name="Fenglei Wu" userId="828226bcb4b7d480" providerId="LiveId" clId="{EEAF5C2D-A027-4356-8A1D-C45EA2232EDA}" dt="2026-04-16T06:28:26.121" v="67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Fenglei Wu" userId="828226bcb4b7d480" providerId="LiveId" clId="{EEAF5C2D-A027-4356-8A1D-C45EA2232EDA}" dt="2026-04-16T06:28:16.772" v="65" actId="1076"/>
          <ac:spMkLst>
            <pc:docMk/>
            <pc:sldMk cId="0" sldId="261"/>
            <ac:spMk id="18" creationId="{00000000-0000-0000-0000-000000000000}"/>
          </ac:spMkLst>
        </pc:spChg>
        <pc:spChg chg="add mod">
          <ac:chgData name="Fenglei Wu" userId="828226bcb4b7d480" providerId="LiveId" clId="{EEAF5C2D-A027-4356-8A1D-C45EA2232EDA}" dt="2026-04-16T06:26:23.712" v="45"/>
          <ac:spMkLst>
            <pc:docMk/>
            <pc:sldMk cId="0" sldId="261"/>
            <ac:spMk id="26" creationId="{E73FDA7D-676A-2E73-14BD-AAF44046E3E5}"/>
          </ac:spMkLst>
        </pc:spChg>
      </pc:sldChg>
      <pc:sldChg chg="addSp modSp mod modNotes modNotesTx">
        <pc:chgData name="Fenglei Wu" userId="828226bcb4b7d480" providerId="LiveId" clId="{EEAF5C2D-A027-4356-8A1D-C45EA2232EDA}" dt="2026-04-27T22:33:12.813" v="852"/>
        <pc:sldMkLst>
          <pc:docMk/>
          <pc:sldMk cId="0" sldId="262"/>
        </pc:sldMkLst>
        <pc:spChg chg="mod">
          <ac:chgData name="Fenglei Wu" userId="828226bcb4b7d480" providerId="LiveId" clId="{EEAF5C2D-A027-4356-8A1D-C45EA2232EDA}" dt="2026-04-16T06:27:33.135" v="5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2:45.928" v="93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7:27.169" v="123"/>
          <ac:spMkLst>
            <pc:docMk/>
            <pc:sldMk cId="0" sldId="262"/>
            <ac:spMk id="7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1:30.218" v="80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2:48.418" v="94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7:31.396" v="12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1:45.324" v="86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6:19.003" v="119"/>
          <ac:spMkLst>
            <pc:docMk/>
            <pc:sldMk cId="0" sldId="262"/>
            <ac:spMk id="19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2:50.619" v="95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7:46.970" v="132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1:53.997" v="92" actId="2057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Fenglei Wu" userId="828226bcb4b7d480" providerId="LiveId" clId="{EEAF5C2D-A027-4356-8A1D-C45EA2232EDA}" dt="2026-04-16T06:36:36.086" v="120"/>
          <ac:spMkLst>
            <pc:docMk/>
            <pc:sldMk cId="0" sldId="262"/>
            <ac:spMk id="27" creationId="{00000000-0000-0000-0000-000000000000}"/>
          </ac:spMkLst>
        </pc:spChg>
        <pc:spChg chg="add mod">
          <ac:chgData name="Fenglei Wu" userId="828226bcb4b7d480" providerId="LiveId" clId="{EEAF5C2D-A027-4356-8A1D-C45EA2232EDA}" dt="2026-04-27T22:33:12.813" v="852"/>
          <ac:spMkLst>
            <pc:docMk/>
            <pc:sldMk cId="0" sldId="262"/>
            <ac:spMk id="29" creationId="{ED180BDD-0FB0-C4C2-77F9-E978E37A9F4A}"/>
          </ac:spMkLst>
        </pc:spChg>
        <pc:picChg chg="mod">
          <ac:chgData name="Fenglei Wu" userId="828226bcb4b7d480" providerId="LiveId" clId="{EEAF5C2D-A027-4356-8A1D-C45EA2232EDA}" dt="2026-04-16T06:37:44.184" v="131" actId="1076"/>
          <ac:picMkLst>
            <pc:docMk/>
            <pc:sldMk cId="0" sldId="262"/>
            <ac:picMk id="22" creationId="{00000000-0000-0000-0000-000000000000}"/>
          </ac:picMkLst>
        </pc:picChg>
      </pc:sldChg>
      <pc:sldChg chg="delSp modSp mod setBg modNotes">
        <pc:chgData name="Fenglei Wu" userId="828226bcb4b7d480" providerId="LiveId" clId="{EEAF5C2D-A027-4356-8A1D-C45EA2232EDA}" dt="2026-04-27T22:33:12.813" v="852"/>
        <pc:sldMkLst>
          <pc:docMk/>
          <pc:sldMk cId="0" sldId="263"/>
        </pc:sldMkLst>
        <pc:spChg chg="mod">
          <ac:chgData name="Fenglei Wu" userId="828226bcb4b7d480" providerId="LiveId" clId="{EEAF5C2D-A027-4356-8A1D-C45EA2232EDA}" dt="2026-04-17T17:12:32.974" v="274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27T22:33:12.813" v="85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englei Wu" userId="828226bcb4b7d480" providerId="LiveId" clId="{EEAF5C2D-A027-4356-8A1D-C45EA2232EDA}" dt="2026-04-17T17:11:27.276" v="266" actId="1076"/>
          <ac:spMkLst>
            <pc:docMk/>
            <pc:sldMk cId="0" sldId="263"/>
            <ac:spMk id="33" creationId="{00000000-0000-0000-0000-000000000000}"/>
          </ac:spMkLst>
        </pc:spChg>
      </pc:sldChg>
      <pc:sldChg chg="addSp delSp modSp mod setBg modNotes">
        <pc:chgData name="Fenglei Wu" userId="828226bcb4b7d480" providerId="LiveId" clId="{EEAF5C2D-A027-4356-8A1D-C45EA2232EDA}" dt="2026-04-27T22:33:12.813" v="852"/>
        <pc:sldMkLst>
          <pc:docMk/>
          <pc:sldMk cId="0" sldId="264"/>
        </pc:sldMkLst>
        <pc:spChg chg="mod">
          <ac:chgData name="Fenglei Wu" userId="828226bcb4b7d480" providerId="LiveId" clId="{EEAF5C2D-A027-4356-8A1D-C45EA2232EDA}" dt="2026-04-17T17:14:58.905" v="277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7:29:50.011" v="350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Fenglei Wu" userId="828226bcb4b7d480" providerId="LiveId" clId="{EEAF5C2D-A027-4356-8A1D-C45EA2232EDA}" dt="2026-04-17T17:31:01.693" v="36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Fenglei Wu" userId="828226bcb4b7d480" providerId="LiveId" clId="{EEAF5C2D-A027-4356-8A1D-C45EA2232EDA}" dt="2026-04-17T17:30:56.795" v="36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Fenglei Wu" userId="828226bcb4b7d480" providerId="LiveId" clId="{EEAF5C2D-A027-4356-8A1D-C45EA2232EDA}" dt="2026-04-17T17:30:50.047" v="359"/>
          <ac:spMkLst>
            <pc:docMk/>
            <pc:sldMk cId="0" sldId="264"/>
            <ac:spMk id="24" creationId="{00000000-0000-0000-0000-000000000000}"/>
          </ac:spMkLst>
        </pc:spChg>
        <pc:spChg chg="add mod">
          <ac:chgData name="Fenglei Wu" userId="828226bcb4b7d480" providerId="LiveId" clId="{EEAF5C2D-A027-4356-8A1D-C45EA2232EDA}" dt="2026-04-27T22:33:12.813" v="852"/>
          <ac:spMkLst>
            <pc:docMk/>
            <pc:sldMk cId="0" sldId="264"/>
            <ac:spMk id="31" creationId="{561EBCDA-DAFA-28D4-0CEE-92D0AE862B36}"/>
          </ac:spMkLst>
        </pc:spChg>
        <pc:picChg chg="mod">
          <ac:chgData name="Fenglei Wu" userId="828226bcb4b7d480" providerId="LiveId" clId="{EEAF5C2D-A027-4356-8A1D-C45EA2232EDA}" dt="2026-04-17T17:30:27.247" v="353" actId="1076"/>
          <ac:picMkLst>
            <pc:docMk/>
            <pc:sldMk cId="0" sldId="264"/>
            <ac:picMk id="7" creationId="{00000000-0000-0000-0000-000000000000}"/>
          </ac:picMkLst>
        </pc:picChg>
      </pc:sldChg>
      <pc:sldChg chg="addSp delSp modSp mod setBg modNotes">
        <pc:chgData name="Fenglei Wu" userId="828226bcb4b7d480" providerId="LiveId" clId="{EEAF5C2D-A027-4356-8A1D-C45EA2232EDA}" dt="2026-04-27T22:33:12.813" v="852"/>
        <pc:sldMkLst>
          <pc:docMk/>
          <pc:sldMk cId="0" sldId="265"/>
        </pc:sldMkLst>
        <pc:spChg chg="mod">
          <ac:chgData name="Fenglei Wu" userId="828226bcb4b7d480" providerId="LiveId" clId="{EEAF5C2D-A027-4356-8A1D-C45EA2232EDA}" dt="2026-04-17T17:20:04.671" v="287" actId="404"/>
          <ac:spMkLst>
            <pc:docMk/>
            <pc:sldMk cId="0" sldId="265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02.245" v="43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02.245" v="437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02.245" v="43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02.245" v="437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02.245" v="437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50.998" v="446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Fenglei Wu" userId="828226bcb4b7d480" providerId="LiveId" clId="{EEAF5C2D-A027-4356-8A1D-C45EA2232EDA}" dt="2026-04-17T17:47:16.915" v="443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Fenglei Wu" userId="828226bcb4b7d480" providerId="LiveId" clId="{EEAF5C2D-A027-4356-8A1D-C45EA2232EDA}" dt="2026-04-27T22:33:12.813" v="852"/>
          <ac:spMkLst>
            <pc:docMk/>
            <pc:sldMk cId="0" sldId="265"/>
            <ac:spMk id="11" creationId="{00000000-0000-0000-0000-000000000000}"/>
          </ac:spMkLst>
        </pc:spChg>
        <pc:picChg chg="add mod">
          <ac:chgData name="Fenglei Wu" userId="828226bcb4b7d480" providerId="LiveId" clId="{EEAF5C2D-A027-4356-8A1D-C45EA2232EDA}" dt="2026-04-17T17:47:16.915" v="443" actId="1076"/>
          <ac:picMkLst>
            <pc:docMk/>
            <pc:sldMk cId="0" sldId="265"/>
            <ac:picMk id="20" creationId="{0E839363-91D0-00AB-1958-694E7D2B8064}"/>
          </ac:picMkLst>
        </pc:picChg>
      </pc:sldChg>
      <pc:sldChg chg="addSp delSp modSp mod setBg modNotes">
        <pc:chgData name="Fenglei Wu" userId="828226bcb4b7d480" providerId="LiveId" clId="{EEAF5C2D-A027-4356-8A1D-C45EA2232EDA}" dt="2026-04-27T22:33:12.813" v="852"/>
        <pc:sldMkLst>
          <pc:docMk/>
          <pc:sldMk cId="0" sldId="266"/>
        </pc:sldMkLst>
        <pc:spChg chg="mod">
          <ac:chgData name="Fenglei Wu" userId="828226bcb4b7d480" providerId="LiveId" clId="{EEAF5C2D-A027-4356-8A1D-C45EA2232EDA}" dt="2026-04-17T17:48:19.652" v="449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0:58.987" v="465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0:58.987" v="465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Fenglei Wu" userId="828226bcb4b7d480" providerId="LiveId" clId="{EEAF5C2D-A027-4356-8A1D-C45EA2232EDA}" dt="2026-04-27T22:33:12.813" v="852"/>
          <ac:spMkLst>
            <pc:docMk/>
            <pc:sldMk cId="0" sldId="266"/>
            <ac:spMk id="6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0:58.987" v="465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0:58.987" v="465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1:05.979" v="467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1:03.457" v="466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1:45.571" v="476" actId="14100"/>
          <ac:spMkLst>
            <pc:docMk/>
            <pc:sldMk cId="0" sldId="266"/>
            <ac:spMk id="18" creationId="{00000000-0000-0000-0000-000000000000}"/>
          </ac:spMkLst>
        </pc:spChg>
        <pc:picChg chg="add mod">
          <ac:chgData name="Fenglei Wu" userId="828226bcb4b7d480" providerId="LiveId" clId="{EEAF5C2D-A027-4356-8A1D-C45EA2232EDA}" dt="2026-04-17T17:51:27.712" v="472" actId="14100"/>
          <ac:picMkLst>
            <pc:docMk/>
            <pc:sldMk cId="0" sldId="266"/>
            <ac:picMk id="21" creationId="{434D4971-B306-BC38-959A-CB8B2033FE7F}"/>
          </ac:picMkLst>
        </pc:picChg>
      </pc:sldChg>
      <pc:sldChg chg="addSp delSp modSp mod setBg modNotes modNotesTx">
        <pc:chgData name="Fenglei Wu" userId="828226bcb4b7d480" providerId="LiveId" clId="{EEAF5C2D-A027-4356-8A1D-C45EA2232EDA}" dt="2026-04-27T22:33:12.813" v="852"/>
        <pc:sldMkLst>
          <pc:docMk/>
          <pc:sldMk cId="0" sldId="267"/>
        </pc:sldMkLst>
        <pc:spChg chg="mod">
          <ac:chgData name="Fenglei Wu" userId="828226bcb4b7d480" providerId="LiveId" clId="{EEAF5C2D-A027-4356-8A1D-C45EA2232EDA}" dt="2026-04-27T22:33:12.813" v="852"/>
          <ac:spMkLst>
            <pc:docMk/>
            <pc:sldMk cId="0" sldId="267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6:40.499" v="491"/>
          <ac:spMkLst>
            <pc:docMk/>
            <pc:sldMk cId="0" sldId="267"/>
            <ac:spMk id="5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7:03.183" v="496" actId="12"/>
          <ac:spMkLst>
            <pc:docMk/>
            <pc:sldMk cId="0" sldId="267"/>
            <ac:spMk id="6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7:16.701" v="498"/>
          <ac:spMkLst>
            <pc:docMk/>
            <pc:sldMk cId="0" sldId="267"/>
            <ac:spMk id="9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7:48.785" v="502" actId="1076"/>
          <ac:spMkLst>
            <pc:docMk/>
            <pc:sldMk cId="0" sldId="267"/>
            <ac:spMk id="14" creationId="{00000000-0000-0000-0000-000000000000}"/>
          </ac:spMkLst>
        </pc:spChg>
      </pc:sldChg>
      <pc:sldChg chg="addSp delSp modSp mod setBg modNotes">
        <pc:chgData name="Fenglei Wu" userId="828226bcb4b7d480" providerId="LiveId" clId="{EEAF5C2D-A027-4356-8A1D-C45EA2232EDA}" dt="2026-04-27T22:33:12.813" v="852"/>
        <pc:sldMkLst>
          <pc:docMk/>
          <pc:sldMk cId="0" sldId="268"/>
        </pc:sldMkLst>
        <pc:spChg chg="mod">
          <ac:chgData name="Fenglei Wu" userId="828226bcb4b7d480" providerId="LiveId" clId="{EEAF5C2D-A027-4356-8A1D-C45EA2232EDA}" dt="2026-04-17T17:59:25.563" v="526"/>
          <ac:spMkLst>
            <pc:docMk/>
            <pc:sldMk cId="0" sldId="268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9:33.955" v="528"/>
          <ac:spMkLst>
            <pc:docMk/>
            <pc:sldMk cId="0" sldId="268"/>
            <ac:spMk id="7" creationId="{00000000-0000-0000-0000-000000000000}"/>
          </ac:spMkLst>
        </pc:spChg>
        <pc:spChg chg="mod">
          <ac:chgData name="Fenglei Wu" userId="828226bcb4b7d480" providerId="LiveId" clId="{EEAF5C2D-A027-4356-8A1D-C45EA2232EDA}" dt="2026-04-17T17:59:46.431" v="532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2:18.437" v="585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2:23.767" v="588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2:27.266" v="589"/>
          <ac:spMkLst>
            <pc:docMk/>
            <pc:sldMk cId="0" sldId="268"/>
            <ac:spMk id="17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2:33.122" v="601" actId="2057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2:55.815" v="605" actId="20577"/>
          <ac:spMkLst>
            <pc:docMk/>
            <pc:sldMk cId="0" sldId="268"/>
            <ac:spMk id="22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2:48.828" v="604" actId="20577"/>
          <ac:spMkLst>
            <pc:docMk/>
            <pc:sldMk cId="0" sldId="268"/>
            <ac:spMk id="23" creationId="{00000000-0000-0000-0000-000000000000}"/>
          </ac:spMkLst>
        </pc:spChg>
      </pc:sldChg>
      <pc:sldChg chg="delSp modSp mod setBg modNotes">
        <pc:chgData name="Fenglei Wu" userId="828226bcb4b7d480" providerId="LiveId" clId="{EEAF5C2D-A027-4356-8A1D-C45EA2232EDA}" dt="2026-04-27T22:33:12.813" v="852"/>
        <pc:sldMkLst>
          <pc:docMk/>
          <pc:sldMk cId="0" sldId="269"/>
        </pc:sldMkLst>
        <pc:spChg chg="mod">
          <ac:chgData name="Fenglei Wu" userId="828226bcb4b7d480" providerId="LiveId" clId="{EEAF5C2D-A027-4356-8A1D-C45EA2232EDA}" dt="2026-04-17T18:04:08.318" v="621" actId="404"/>
          <ac:spMkLst>
            <pc:docMk/>
            <pc:sldMk cId="0" sldId="269"/>
            <ac:spMk id="3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4:25.104" v="624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4:58.570" v="640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5:21.753" v="646" actId="2057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5:09.273" v="643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5:42.311" v="648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5:51.773" v="651" actId="20577"/>
          <ac:spMkLst>
            <pc:docMk/>
            <pc:sldMk cId="0" sldId="269"/>
            <ac:spMk id="23" creationId="{00000000-0000-0000-0000-000000000000}"/>
          </ac:spMkLst>
        </pc:spChg>
      </pc:sldChg>
      <pc:sldChg chg="addSp modSp mod setBg modNotes modNotesTx">
        <pc:chgData name="Fenglei Wu" userId="828226bcb4b7d480" providerId="LiveId" clId="{EEAF5C2D-A027-4356-8A1D-C45EA2232EDA}" dt="2026-04-27T22:33:12.813" v="852"/>
        <pc:sldMkLst>
          <pc:docMk/>
          <pc:sldMk cId="0" sldId="270"/>
        </pc:sldMkLst>
        <pc:spChg chg="mod">
          <ac:chgData name="Fenglei Wu" userId="828226bcb4b7d480" providerId="LiveId" clId="{EEAF5C2D-A027-4356-8A1D-C45EA2232EDA}" dt="2026-04-17T18:09:12.424" v="659" actId="404"/>
          <ac:spMkLst>
            <pc:docMk/>
            <pc:sldMk cId="0" sldId="270"/>
            <ac:spMk id="2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9:30.194" v="661"/>
          <ac:spMkLst>
            <pc:docMk/>
            <pc:sldMk cId="0" sldId="270"/>
            <ac:spMk id="6" creationId="{00000000-0000-0000-0000-000000000000}"/>
          </ac:spMkLst>
        </pc:spChg>
        <pc:spChg chg="mod">
          <ac:chgData name="Fenglei Wu" userId="828226bcb4b7d480" providerId="LiveId" clId="{EEAF5C2D-A027-4356-8A1D-C45EA2232EDA}" dt="2026-04-17T18:09:43.459" v="665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Fenglei Wu" userId="828226bcb4b7d480" providerId="LiveId" clId="{EEAF5C2D-A027-4356-8A1D-C45EA2232EDA}" dt="2026-04-17T18:24:16.074" v="6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Fenglei Wu" userId="828226bcb4b7d480" providerId="LiveId" clId="{EEAF5C2D-A027-4356-8A1D-C45EA2232EDA}" dt="2026-04-27T22:33:12.813" v="852"/>
          <ac:spMkLst>
            <pc:docMk/>
            <pc:sldMk cId="0" sldId="270"/>
            <ac:spMk id="12" creationId="{00000000-0000-0000-0000-000000000000}"/>
          </ac:spMkLst>
        </pc:spChg>
        <pc:spChg chg="mod">
          <ac:chgData name="Fenglei Wu" userId="828226bcb4b7d480" providerId="LiveId" clId="{EEAF5C2D-A027-4356-8A1D-C45EA2232EDA}" dt="2026-04-17T18:24:20.903" v="678"/>
          <ac:spMkLst>
            <pc:docMk/>
            <pc:sldMk cId="0" sldId="270"/>
            <ac:spMk id="16" creationId="{00000000-0000-0000-0000-000000000000}"/>
          </ac:spMkLst>
        </pc:spChg>
        <pc:spChg chg="mod">
          <ac:chgData name="Fenglei Wu" userId="828226bcb4b7d480" providerId="LiveId" clId="{EEAF5C2D-A027-4356-8A1D-C45EA2232EDA}" dt="2026-04-17T18:23:47.770" v="674" actId="2057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Fenglei Wu" userId="828226bcb4b7d480" providerId="LiveId" clId="{EEAF5C2D-A027-4356-8A1D-C45EA2232EDA}" dt="2026-04-17T18:24:38.739" v="682" actId="20577"/>
          <ac:spMkLst>
            <pc:docMk/>
            <pc:sldMk cId="0" sldId="270"/>
            <ac:spMk id="22" creationId="{00000000-0000-0000-0000-000000000000}"/>
          </ac:spMkLst>
        </pc:spChg>
      </pc:sldChg>
      <pc:sldChg chg="delSp modSp mod modNotesTx">
        <pc:chgData name="Fenglei Wu" userId="828226bcb4b7d480" providerId="LiveId" clId="{EEAF5C2D-A027-4356-8A1D-C45EA2232EDA}" dt="2026-04-27T22:33:12.813" v="852"/>
        <pc:sldMkLst>
          <pc:docMk/>
          <pc:sldMk cId="0" sldId="271"/>
        </pc:sldMkLst>
        <pc:spChg chg="mod">
          <ac:chgData name="Fenglei Wu" userId="828226bcb4b7d480" providerId="LiveId" clId="{EEAF5C2D-A027-4356-8A1D-C45EA2232EDA}" dt="2026-04-27T22:33:12.813" v="852"/>
          <ac:spMkLst>
            <pc:docMk/>
            <pc:sldMk cId="0" sldId="271"/>
            <ac:spMk id="5" creationId="{00000000-0000-0000-0000-000000000000}"/>
          </ac:spMkLst>
        </pc:spChg>
      </pc:sldChg>
      <pc:sldChg chg="modSp mod modNotes modNotesTx">
        <pc:chgData name="Fenglei Wu" userId="828226bcb4b7d480" providerId="LiveId" clId="{EEAF5C2D-A027-4356-8A1D-C45EA2232EDA}" dt="2026-04-27T22:33:12.813" v="852"/>
        <pc:sldMkLst>
          <pc:docMk/>
          <pc:sldMk cId="2606797599" sldId="272"/>
        </pc:sldMkLst>
        <pc:spChg chg="mod">
          <ac:chgData name="Fenglei Wu" userId="828226bcb4b7d480" providerId="LiveId" clId="{EEAF5C2D-A027-4356-8A1D-C45EA2232EDA}" dt="2026-04-16T22:52:31.099" v="229" actId="20577"/>
          <ac:spMkLst>
            <pc:docMk/>
            <pc:sldMk cId="2606797599" sldId="272"/>
            <ac:spMk id="3" creationId="{F98C9D2A-7EFB-085F-41EB-A5DB6F7B82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dirty="0"/>
              <a:t>Hello everyone, today I will present my project on volatility forecasting using GARCH-family models, with a focus on risk management applications.</a:t>
            </a:r>
          </a:p>
          <a:p>
            <a:r>
              <a:rPr lang="en-US" dirty="0"/>
              <a:t>The key question of this project is simple:</a:t>
            </a:r>
          </a:p>
          <a:p>
            <a:r>
              <a:rPr lang="en-US" dirty="0"/>
              <a:t>Do more complex GARCH models actually improve out-of-sample volatility forecasting, and can these forecasts be translated into reliable risk measures such as Value-at-Risk?</a:t>
            </a:r>
          </a:p>
          <a:p>
            <a:r>
              <a:rPr lang="en-US" dirty="0"/>
              <a:t>This question is important because in financial modeling, more complex models often fit historical data better, but may not perform Ill in real-world forecasting.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workflow of this project is straightforward.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 analyze stylized facts of financial data to motivate the use of GARCH models.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I estimate different GARCH-family models, including both symmetric and asymmetric specifications.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I evaluate their forecasting performance using a strict out-of-sample framework.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 translate volatility forecasts into Value-at-Risk and validate them through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backtesting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overall, this project builds a full pipeline from modeling to real-world risk application.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building any model, I first examine the key </a:t>
            </a:r>
            <a:r>
              <a:rPr lang="en-US" sz="1400" b="0" i="0" u="none" strike="noStrike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characteri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stics of financial data.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important observation is that volatility is time-varying and exhibits clustering.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that periods of high volatility tend to be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folloId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high volatility, and periods of low volatility tend to persist as Ill.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important because it suggests that while returns themselves are difficult to predict, volatility is actually predictable.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distinction is critical in financial time series modeling.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models like GARCH are designed specifically to capture this predictable structure in volatility.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F60B-9C82-0983-362E-54E800D9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C98BE9-CAA9-FF85-AA7A-E62E7F1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BE9FC-80A6-1C82-550A-392E6777FAC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AC61B7-B3B1-6F35-30D3-C876C0704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082501-B9C3-E637-7654-95486F869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 three major US equity ETFs: SPY, QQQ, and DIA.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sample spans from 2015 to 2025, covering different market conditions, including periods of stability and extreme volatility such as the COVID-19 crisis.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compute daily log returns from adjusted closing prices.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I use a 21-day rolling variance as a proxy for realized volatility.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proxy serves as a benchmark when evaluating the accuracy of model-based volatility forecasts.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this is a simplified measure, it captures local variability in returns and is commonly used in practice.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25523-2BB3-3B89-1706-BEA38795DD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26FCE-B1D0-8D2B-B012-D51AB23DB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7920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 visualize volatility clustering using squared returns.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observe that large movements tend to cluster together over time.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during the COVID period, volatility spikes significantly and remains elevated for a period of time.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confirms that volatility is not constant, but persistent and time-varying.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exactly the type of behavior that GARCH models are designed to capture.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this provides strong empirical motivation for using conditional volatility models.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also observe that returns are clearly non-normal.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negative skewness, indicating higher downside risk, and excess kurtosis(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亏偷死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s)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indicating fat tails. This means extreme events occur more frequently than predicted by a normal distribution.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I observe strong ARCH effects. The ACF of squared returns shows significant autocorrelation, indicating volatility persistence.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also perform ARCH-LM tests, which strongly reject the null hypothesis of constant variance.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these results confirm the presence of conditional heteroskedasticity(</a:t>
            </a:r>
            <a:r>
              <a:rPr lang="en-US" dirty="0"/>
              <a:t>he-</a:t>
            </a:r>
            <a:r>
              <a:rPr lang="en-US" dirty="0" err="1"/>
              <a:t>te</a:t>
            </a:r>
            <a:r>
              <a:rPr lang="en-US" dirty="0"/>
              <a:t>-</a:t>
            </a:r>
            <a:r>
              <a:rPr lang="en-US" dirty="0" err="1"/>
              <a:t>ro</a:t>
            </a:r>
            <a:r>
              <a:rPr lang="en-US" dirty="0"/>
              <a:t>-</a:t>
            </a:r>
            <a:r>
              <a:rPr lang="en-US" dirty="0" err="1"/>
              <a:t>ske</a:t>
            </a:r>
            <a:r>
              <a:rPr lang="en-US" dirty="0"/>
              <a:t>-das-TI-ci-ty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which justifies the use of GARCH-type models.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consider three models in this project.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GARCH(1,1) as the baseline model, which captures volatility persistence using past shocks and pas variance.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EGARCH, which models the logarithm of variance and captures asymmetry.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GJR-GARCH, which also captures asymmetric effects using a threshold (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帅洗后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mechanism.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idea behind the asymmetric models is that negative shocks tend to increase volatility more than positive shocks.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question here is whether this additional complexity actually improves forecasting performance.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evaluate all models using a strict out-of-sample framework.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 is split into a training set and a test set.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 an expanding window approach, where the model is re-estimated as new data becomes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available.This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setup is very important.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financial modeling, in-sample fit can be misleading, because complex models can always fit historical data better.</a:t>
            </a:r>
          </a:p>
          <a:p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HoIver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what really matters is out-of-sample performance.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mimics real-world forecasting conditions and completely avoids look-ahead bias.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it provides a realistic and robust evaluation of model performance.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evaluate forecasting performance using three loss functions: MSE, MAE, and QLIKE.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loss function captures a different aspect of forecast accuracy.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MSE penalizes large errors more heavily.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 is more robust to outliers.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QLIKE is particularly important in volatility modeling, because it penalizes underestimation of volatility.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critical in risk management, since underestimating volatility can lead to underestimated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risk.So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multiple loss functions ensures a more comprehensive evaluation.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results are very clear.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GARCH(1,1) consistently outperforms all more complex models across all assets and all evaluation metrics.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an important finding.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though EGARCH and GJR-GARCH provide a better in-sample fit, they do not improve out-of-sample forecasting performance.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suggests that the additional flexibility may lead to overfitting, and does not generalize Ill to new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data.So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this case, a simpler model is actually more robust.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highlights a key principle in financial modeling: robustness is often more important than complexity.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I translate volatility forecasts into Value-at-Risk.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step is important because it connects statistical modeling with real-world applications.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practice, institutions are not directly interested in volatility, but in potential losses.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by converting volatility forecasts into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can quantify downside risk.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volatility is time-varying,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also adjusts dynamically with market conditions.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dirty="0"/>
              <a:t>I evaluate the </a:t>
            </a:r>
            <a:r>
              <a:rPr lang="en-US" dirty="0" err="1"/>
              <a:t>VaR</a:t>
            </a:r>
            <a:r>
              <a:rPr lang="en-US" dirty="0"/>
              <a:t> forecasts using violation rates and the Kupiec</a:t>
            </a:r>
            <a:r>
              <a:rPr lang="zh-CN" altLang="en-US" dirty="0"/>
              <a:t>（库皮克）</a:t>
            </a:r>
            <a:r>
              <a:rPr lang="en-US" dirty="0"/>
              <a:t> test.</a:t>
            </a:r>
          </a:p>
          <a:p>
            <a:r>
              <a:rPr lang="en-US" dirty="0"/>
              <a:t>The idea is simple: if the model is Ill calibrated, the actual violation rate should match the expected level.</a:t>
            </a:r>
          </a:p>
          <a:p>
            <a:r>
              <a:rPr lang="en-US" dirty="0"/>
              <a:t>In our results, the violation rates are close to the expected levels for both 95% and 99% </a:t>
            </a:r>
            <a:r>
              <a:rPr lang="en-US" dirty="0" err="1"/>
              <a:t>VaR.</a:t>
            </a:r>
            <a:endParaRPr lang="en-US" dirty="0"/>
          </a:p>
          <a:p>
            <a:r>
              <a:rPr lang="en-US" dirty="0"/>
              <a:t>The Kupiec test also fails to reject the null hypothesis.</a:t>
            </a:r>
          </a:p>
          <a:p>
            <a:r>
              <a:rPr lang="en-US" dirty="0"/>
              <a:t>This indicates that the </a:t>
            </a:r>
            <a:r>
              <a:rPr lang="en-US" dirty="0" err="1"/>
              <a:t>VaR</a:t>
            </a:r>
            <a:r>
              <a:rPr lang="en-US" dirty="0"/>
              <a:t> model is Ill calibrated and statistically reliable.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these results, I can draw several key insights.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volatility models enable dynamic risk measurement.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robustness matters more than model complexity.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should be complemented with Expected Shortfall to capture tail risk.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backtesting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essential before using any model in practice.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several limitations.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assume normality, which may underestimate tail risk.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focus only on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does not capture the magnitude of extreme losses.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GARCH models assume stable dynamics, which may not hold under regime shifts.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volatility proxy is simplified.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results should be interpreted with caution, especially during extreme market conditions.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builds a complete pipeline from volatility forecasting to risk validation.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find that GARCH(1,1) provides the best out-of-sample performance.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estimates are Ill calibrated and pass statistical </a:t>
            </a:r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backtesting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takeaway is that in practice, simple models can outperform more complex ones.</a:t>
            </a:r>
          </a:p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Robustness matters more than complexity.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5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3.svg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3959" y="1987176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Do More Complex GARCH Models Improve Volatility Forecasting?</a:t>
            </a:r>
          </a:p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Applications to Value-at-Risk (</a:t>
            </a:r>
            <a:r>
              <a:rPr lang="en-US" sz="24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24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3200" b="1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963272" y="4225178"/>
            <a:ext cx="2985246" cy="13394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Fenglei Wu  </a:t>
            </a:r>
          </a:p>
          <a:p>
            <a:pPr indent="0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MS in Financial Engineering  Claremont Graduate University 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86753" y="5471832"/>
            <a:ext cx="16293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April  2026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1999" y="508000"/>
            <a:ext cx="552449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Workflow of the Analysis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84300"/>
            <a:ext cx="5333253" cy="2032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1999" y="1397000"/>
            <a:ext cx="101599" cy="2019300"/>
          </a:xfrm>
          <a:prstGeom prst="roundRect">
            <a:avLst>
              <a:gd name="adj" fmla="val 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06660" y="2013526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641661" y="1792037"/>
            <a:ext cx="2994959" cy="507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Motivation &amp; Data</a:t>
            </a:r>
            <a:endParaRPr lang="en-US" sz="1800" dirty="0"/>
          </a:p>
        </p:txBody>
      </p:sp>
      <p:sp>
        <p:nvSpPr>
          <p:cNvPr id="8" name="AutoShape 8"/>
          <p:cNvSpPr/>
          <p:nvPr/>
        </p:nvSpPr>
        <p:spPr>
          <a:xfrm>
            <a:off x="1614019" y="2201393"/>
            <a:ext cx="4357289" cy="12403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ETF data (SPY, QQQ, DIA)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Volatility clustering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Non-normality &amp; ARCH effects</a:t>
            </a:r>
            <a:endParaRPr lang="en-US" sz="1800" dirty="0"/>
          </a:p>
        </p:txBody>
      </p:sp>
      <p:sp>
        <p:nvSpPr>
          <p:cNvPr id="64" name="AutoShape 4">
            <a:extLst>
              <a:ext uri="{FF2B5EF4-FFF2-40B4-BE49-F238E27FC236}">
                <a16:creationId xmlns:a16="http://schemas.microsoft.com/office/drawing/2014/main" id="{DBDB7743-6DAC-CB4C-5EEE-D62DC3B6AA02}"/>
              </a:ext>
            </a:extLst>
          </p:cNvPr>
          <p:cNvSpPr/>
          <p:nvPr/>
        </p:nvSpPr>
        <p:spPr>
          <a:xfrm>
            <a:off x="761999" y="3689350"/>
            <a:ext cx="5333253" cy="2032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" name="AutoShape 5">
            <a:extLst>
              <a:ext uri="{FF2B5EF4-FFF2-40B4-BE49-F238E27FC236}">
                <a16:creationId xmlns:a16="http://schemas.microsoft.com/office/drawing/2014/main" id="{448202E2-142D-9F2A-F609-0ABDADB68035}"/>
              </a:ext>
            </a:extLst>
          </p:cNvPr>
          <p:cNvSpPr/>
          <p:nvPr/>
        </p:nvSpPr>
        <p:spPr>
          <a:xfrm>
            <a:off x="761998" y="3702050"/>
            <a:ext cx="101599" cy="2019300"/>
          </a:xfrm>
          <a:prstGeom prst="roundRect">
            <a:avLst>
              <a:gd name="adj" fmla="val 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6">
            <a:extLst>
              <a:ext uri="{FF2B5EF4-FFF2-40B4-BE49-F238E27FC236}">
                <a16:creationId xmlns:a16="http://schemas.microsoft.com/office/drawing/2014/main" id="{9587B4E8-9F17-C70B-5F68-CCCA397634AF}"/>
              </a:ext>
            </a:extLst>
          </p:cNvPr>
          <p:cNvSpPr/>
          <p:nvPr/>
        </p:nvSpPr>
        <p:spPr>
          <a:xfrm>
            <a:off x="990598" y="427355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67" name="AutoShape 7">
            <a:extLst>
              <a:ext uri="{FF2B5EF4-FFF2-40B4-BE49-F238E27FC236}">
                <a16:creationId xmlns:a16="http://schemas.microsoft.com/office/drawing/2014/main" id="{74A362E0-2015-D4A3-7344-2D744B3EDDDE}"/>
              </a:ext>
            </a:extLst>
          </p:cNvPr>
          <p:cNvSpPr/>
          <p:nvPr/>
        </p:nvSpPr>
        <p:spPr>
          <a:xfrm>
            <a:off x="1614018" y="4117040"/>
            <a:ext cx="2994959" cy="507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Forecast Evaluation</a:t>
            </a:r>
            <a:endParaRPr lang="en-US" sz="1800" dirty="0"/>
          </a:p>
        </p:txBody>
      </p:sp>
      <p:sp>
        <p:nvSpPr>
          <p:cNvPr id="68" name="AutoShape 8">
            <a:extLst>
              <a:ext uri="{FF2B5EF4-FFF2-40B4-BE49-F238E27FC236}">
                <a16:creationId xmlns:a16="http://schemas.microsoft.com/office/drawing/2014/main" id="{605AAAE4-1B1C-4F4F-B094-3D485C459CBC}"/>
              </a:ext>
            </a:extLst>
          </p:cNvPr>
          <p:cNvSpPr/>
          <p:nvPr/>
        </p:nvSpPr>
        <p:spPr>
          <a:xfrm>
            <a:off x="1614018" y="4506443"/>
            <a:ext cx="4243295" cy="9737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Out-of-sample testing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Loss functions (MSE, MAE, QLIKE)</a:t>
            </a:r>
            <a:endParaRPr lang="en-US" sz="1800" dirty="0"/>
          </a:p>
        </p:txBody>
      </p:sp>
      <p:sp>
        <p:nvSpPr>
          <p:cNvPr id="69" name="AutoShape 4">
            <a:extLst>
              <a:ext uri="{FF2B5EF4-FFF2-40B4-BE49-F238E27FC236}">
                <a16:creationId xmlns:a16="http://schemas.microsoft.com/office/drawing/2014/main" id="{D6303A86-000F-633A-C88B-3001CA01B173}"/>
              </a:ext>
            </a:extLst>
          </p:cNvPr>
          <p:cNvSpPr/>
          <p:nvPr/>
        </p:nvSpPr>
        <p:spPr>
          <a:xfrm>
            <a:off x="6286501" y="1397000"/>
            <a:ext cx="5333253" cy="2032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0" name="AutoShape 5">
            <a:extLst>
              <a:ext uri="{FF2B5EF4-FFF2-40B4-BE49-F238E27FC236}">
                <a16:creationId xmlns:a16="http://schemas.microsoft.com/office/drawing/2014/main" id="{F57186CC-C95F-B6F9-21ED-3D62EFD78722}"/>
              </a:ext>
            </a:extLst>
          </p:cNvPr>
          <p:cNvSpPr/>
          <p:nvPr/>
        </p:nvSpPr>
        <p:spPr>
          <a:xfrm>
            <a:off x="6286500" y="1409700"/>
            <a:ext cx="101599" cy="2019300"/>
          </a:xfrm>
          <a:prstGeom prst="roundRect">
            <a:avLst>
              <a:gd name="adj" fmla="val 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" name="AutoShape 6">
            <a:extLst>
              <a:ext uri="{FF2B5EF4-FFF2-40B4-BE49-F238E27FC236}">
                <a16:creationId xmlns:a16="http://schemas.microsoft.com/office/drawing/2014/main" id="{12E83AF3-8600-3CDA-CE14-FCF2C1C01ADC}"/>
              </a:ext>
            </a:extLst>
          </p:cNvPr>
          <p:cNvSpPr/>
          <p:nvPr/>
        </p:nvSpPr>
        <p:spPr>
          <a:xfrm>
            <a:off x="6515100" y="19812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72" name="AutoShape 7">
            <a:extLst>
              <a:ext uri="{FF2B5EF4-FFF2-40B4-BE49-F238E27FC236}">
                <a16:creationId xmlns:a16="http://schemas.microsoft.com/office/drawing/2014/main" id="{1D0F57BA-3E28-BB14-A0EB-291A24469EB9}"/>
              </a:ext>
            </a:extLst>
          </p:cNvPr>
          <p:cNvSpPr/>
          <p:nvPr/>
        </p:nvSpPr>
        <p:spPr>
          <a:xfrm>
            <a:off x="7138520" y="1824690"/>
            <a:ext cx="2994959" cy="507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Volatility Modeling</a:t>
            </a:r>
            <a:endParaRPr lang="en-US" sz="1800" dirty="0"/>
          </a:p>
        </p:txBody>
      </p:sp>
      <p:sp>
        <p:nvSpPr>
          <p:cNvPr id="73" name="AutoShape 8">
            <a:extLst>
              <a:ext uri="{FF2B5EF4-FFF2-40B4-BE49-F238E27FC236}">
                <a16:creationId xmlns:a16="http://schemas.microsoft.com/office/drawing/2014/main" id="{68283B3B-13AC-5152-8F0D-37B8985408E6}"/>
              </a:ext>
            </a:extLst>
          </p:cNvPr>
          <p:cNvSpPr/>
          <p:nvPr/>
        </p:nvSpPr>
        <p:spPr>
          <a:xfrm>
            <a:off x="7138520" y="2214093"/>
            <a:ext cx="4243295" cy="9737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GARCH (baseline)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EGARCH / GJR (asymmetry</a:t>
            </a:r>
            <a:r>
              <a:rPr lang="en-US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800" dirty="0"/>
          </a:p>
        </p:txBody>
      </p:sp>
      <p:sp>
        <p:nvSpPr>
          <p:cNvPr id="74" name="AutoShape 4">
            <a:extLst>
              <a:ext uri="{FF2B5EF4-FFF2-40B4-BE49-F238E27FC236}">
                <a16:creationId xmlns:a16="http://schemas.microsoft.com/office/drawing/2014/main" id="{8FCE49B5-22AA-B7A7-593B-B184EA9DAB09}"/>
              </a:ext>
            </a:extLst>
          </p:cNvPr>
          <p:cNvSpPr/>
          <p:nvPr/>
        </p:nvSpPr>
        <p:spPr>
          <a:xfrm>
            <a:off x="6286500" y="3689350"/>
            <a:ext cx="5333253" cy="2032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5">
            <a:extLst>
              <a:ext uri="{FF2B5EF4-FFF2-40B4-BE49-F238E27FC236}">
                <a16:creationId xmlns:a16="http://schemas.microsoft.com/office/drawing/2014/main" id="{13248AFA-B174-F73B-6802-CB35177275F3}"/>
              </a:ext>
            </a:extLst>
          </p:cNvPr>
          <p:cNvSpPr/>
          <p:nvPr/>
        </p:nvSpPr>
        <p:spPr>
          <a:xfrm>
            <a:off x="6286499" y="3702050"/>
            <a:ext cx="101599" cy="2019300"/>
          </a:xfrm>
          <a:prstGeom prst="roundRect">
            <a:avLst>
              <a:gd name="adj" fmla="val 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" name="AutoShape 6">
            <a:extLst>
              <a:ext uri="{FF2B5EF4-FFF2-40B4-BE49-F238E27FC236}">
                <a16:creationId xmlns:a16="http://schemas.microsoft.com/office/drawing/2014/main" id="{2C38A533-623E-DE50-18B0-54AE2831007B}"/>
              </a:ext>
            </a:extLst>
          </p:cNvPr>
          <p:cNvSpPr/>
          <p:nvPr/>
        </p:nvSpPr>
        <p:spPr>
          <a:xfrm>
            <a:off x="6515099" y="427355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77" name="AutoShape 7">
            <a:extLst>
              <a:ext uri="{FF2B5EF4-FFF2-40B4-BE49-F238E27FC236}">
                <a16:creationId xmlns:a16="http://schemas.microsoft.com/office/drawing/2014/main" id="{BD6860E9-9C28-7CEE-4095-B8E1DA51BD88}"/>
              </a:ext>
            </a:extLst>
          </p:cNvPr>
          <p:cNvSpPr/>
          <p:nvPr/>
        </p:nvSpPr>
        <p:spPr>
          <a:xfrm>
            <a:off x="7138519" y="4117040"/>
            <a:ext cx="2994959" cy="507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Risk Application</a:t>
            </a:r>
            <a:endParaRPr lang="en-US" sz="1800" dirty="0"/>
          </a:p>
        </p:txBody>
      </p:sp>
      <p:sp>
        <p:nvSpPr>
          <p:cNvPr id="78" name="AutoShape 8">
            <a:extLst>
              <a:ext uri="{FF2B5EF4-FFF2-40B4-BE49-F238E27FC236}">
                <a16:creationId xmlns:a16="http://schemas.microsoft.com/office/drawing/2014/main" id="{C9BDD18E-38EF-A6FE-BB7F-3C016D181C71}"/>
              </a:ext>
            </a:extLst>
          </p:cNvPr>
          <p:cNvSpPr/>
          <p:nvPr/>
        </p:nvSpPr>
        <p:spPr>
          <a:xfrm>
            <a:off x="7138519" y="4506443"/>
            <a:ext cx="4243295" cy="9737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estimation   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Backtesting</a:t>
            </a:r>
            <a:r>
              <a:rPr lang="en-US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(Kupiec test)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 Motivation &amp; Data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“Why GARCH Models for Volatility?”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4826000" cy="635000"/>
          </a:xfrm>
          <a:prstGeom prst="roundRect">
            <a:avLst>
              <a:gd name="adj" fmla="val 16000"/>
            </a:avLst>
          </a:prstGeom>
          <a:solidFill>
            <a:srgbClr val="E0F2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7272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676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Background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413000"/>
            <a:ext cx="4826000" cy="1143000"/>
          </a:xfrm>
          <a:prstGeom prst="roundRect">
            <a:avLst>
              <a:gd name="adj" fmla="val 888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603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254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Empirical Observations</a:t>
            </a:r>
            <a:endParaRPr lang="en-US" dirty="0"/>
          </a:p>
        </p:txBody>
      </p:sp>
      <p:sp>
        <p:nvSpPr>
          <p:cNvPr id="11" name="AutoShape 11"/>
          <p:cNvSpPr/>
          <p:nvPr/>
        </p:nvSpPr>
        <p:spPr>
          <a:xfrm>
            <a:off x="1778000" y="28956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Time-varying volatility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Volatility clustering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52500" y="3683000"/>
            <a:ext cx="4826000" cy="1016000"/>
          </a:xfrm>
          <a:prstGeom prst="roundRect">
            <a:avLst>
              <a:gd name="adj" fmla="val 10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873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81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Implication</a:t>
            </a:r>
            <a:endParaRPr lang="en-US" dirty="0"/>
          </a:p>
        </p:txBody>
      </p:sp>
      <p:sp>
        <p:nvSpPr>
          <p:cNvPr id="15" name="AutoShape 15"/>
          <p:cNvSpPr/>
          <p:nvPr/>
        </p:nvSpPr>
        <p:spPr>
          <a:xfrm>
            <a:off x="1778000" y="4165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Volatility is predictable</a:t>
            </a:r>
            <a:endParaRPr lang="en-US" dirty="0"/>
          </a:p>
        </p:txBody>
      </p:sp>
      <p:sp>
        <p:nvSpPr>
          <p:cNvPr id="16" name="AutoShape 16"/>
          <p:cNvSpPr/>
          <p:nvPr/>
        </p:nvSpPr>
        <p:spPr>
          <a:xfrm>
            <a:off x="952500" y="4826000"/>
            <a:ext cx="4826000" cy="1143000"/>
          </a:xfrm>
          <a:prstGeom prst="roundRect">
            <a:avLst>
              <a:gd name="adj" fmla="val 888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5016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4953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Modeling Approach</a:t>
            </a:r>
            <a:endParaRPr lang="en-US" dirty="0"/>
          </a:p>
        </p:txBody>
      </p:sp>
      <p:sp>
        <p:nvSpPr>
          <p:cNvPr id="19" name="AutoShape 19"/>
          <p:cNvSpPr/>
          <p:nvPr/>
        </p:nvSpPr>
        <p:spPr>
          <a:xfrm>
            <a:off x="1790700" y="514985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GARCH family models</a:t>
            </a:r>
            <a:endParaRPr lang="en-US" dirty="0"/>
          </a:p>
        </p:txBody>
      </p:sp>
      <p:sp>
        <p:nvSpPr>
          <p:cNvPr id="20" name="AutoShape 20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1587500"/>
            <a:ext cx="4826000" cy="635000"/>
          </a:xfrm>
          <a:prstGeom prst="roundRect">
            <a:avLst>
              <a:gd name="adj" fmla="val 16000"/>
            </a:avLst>
          </a:prstGeom>
          <a:solidFill>
            <a:srgbClr val="E0F2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7272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1676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Questions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413500" y="2413000"/>
            <a:ext cx="48260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6670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66000" y="26035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 complex models improve forecasting performance?</a:t>
            </a:r>
            <a:endParaRPr lang="en-US" dirty="0"/>
          </a:p>
        </p:txBody>
      </p:sp>
      <p:sp>
        <p:nvSpPr>
          <p:cNvPr id="28" name="AutoShape 28"/>
          <p:cNvSpPr/>
          <p:nvPr/>
        </p:nvSpPr>
        <p:spPr>
          <a:xfrm>
            <a:off x="6413500" y="4102100"/>
            <a:ext cx="48260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318000"/>
            <a:ext cx="508000" cy="508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66000" y="4292886"/>
            <a:ext cx="3683000" cy="8125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Can volatility forecasts be used for reliable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7A23-35E9-3B78-3875-C2DC4862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F9E80FD-8709-7500-3CA0-6AD6453C83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98C9D2A-7EFB-085F-41EB-A5DB6F7B8286}"/>
              </a:ext>
            </a:extLst>
          </p:cNvPr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 Motivation &amp; Data</a:t>
            </a:r>
          </a:p>
          <a:p>
            <a:pPr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Data Description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1F47A61-A3DD-152A-6AD6-DD2FE5EC4147}"/>
              </a:ext>
            </a:extLst>
          </p:cNvPr>
          <p:cNvSpPr/>
          <p:nvPr/>
        </p:nvSpPr>
        <p:spPr>
          <a:xfrm>
            <a:off x="762000" y="1397000"/>
            <a:ext cx="3302000" cy="4953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E11AA0D-E626-53B4-7C34-EB6BA933D898}"/>
              </a:ext>
            </a:extLst>
          </p:cNvPr>
          <p:cNvSpPr/>
          <p:nvPr/>
        </p:nvSpPr>
        <p:spPr>
          <a:xfrm>
            <a:off x="762000" y="1397000"/>
            <a:ext cx="3302000" cy="609600"/>
          </a:xfrm>
          <a:prstGeom prst="roundRect">
            <a:avLst>
              <a:gd name="adj" fmla="val 2500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E25C122-A55A-C4D5-F90B-31C01E88F8D9}"/>
              </a:ext>
            </a:extLst>
          </p:cNvPr>
          <p:cNvSpPr/>
          <p:nvPr/>
        </p:nvSpPr>
        <p:spPr>
          <a:xfrm>
            <a:off x="952500" y="1524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Assets Under Study</a:t>
            </a:r>
            <a:endParaRPr lang="en-US"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40B607-EB2C-622B-BA15-8841366A94CD}"/>
              </a:ext>
            </a:extLst>
          </p:cNvPr>
          <p:cNvSpPr/>
          <p:nvPr/>
        </p:nvSpPr>
        <p:spPr>
          <a:xfrm>
            <a:off x="952500" y="22225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2886004-9B76-92A5-1FCF-41A73CD0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9500" y="2349500"/>
            <a:ext cx="88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61D86390-7754-7400-25EB-C3F18DA8A7F7}"/>
              </a:ext>
            </a:extLst>
          </p:cNvPr>
          <p:cNvSpPr/>
          <p:nvPr/>
        </p:nvSpPr>
        <p:spPr>
          <a:xfrm>
            <a:off x="2095500" y="2413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SPY (S&amp;P 500)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Large-cap U.S. equities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A861F27-0E7A-A2CC-140C-37D584C6B67A}"/>
              </a:ext>
            </a:extLst>
          </p:cNvPr>
          <p:cNvSpPr/>
          <p:nvPr/>
        </p:nvSpPr>
        <p:spPr>
          <a:xfrm>
            <a:off x="952500" y="3556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89D1CDF0-AD86-0B2F-357D-907F2167DE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99" r="12500"/>
          <a:stretch>
            <a:fillRect/>
          </a:stretch>
        </p:blipFill>
        <p:spPr>
          <a:xfrm>
            <a:off x="1079500" y="3683000"/>
            <a:ext cx="88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460F23F3-135C-7EF5-2B98-39608CE0828A}"/>
              </a:ext>
            </a:extLst>
          </p:cNvPr>
          <p:cNvSpPr/>
          <p:nvPr/>
        </p:nvSpPr>
        <p:spPr>
          <a:xfrm>
            <a:off x="2095500" y="37465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QQQ (Nasdaq-100)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Focuses on U.S. tech and growth-oriented companies.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574823D-0819-9DA6-D8CF-349894DF6B1E}"/>
              </a:ext>
            </a:extLst>
          </p:cNvPr>
          <p:cNvSpPr/>
          <p:nvPr/>
        </p:nvSpPr>
        <p:spPr>
          <a:xfrm>
            <a:off x="952500" y="48895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98142884-7DBE-2615-A028-4DDFE8DF6B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79500" y="5016500"/>
            <a:ext cx="88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BD0B255B-4FC4-1685-2959-D78D938CEE49}"/>
              </a:ext>
            </a:extLst>
          </p:cNvPr>
          <p:cNvSpPr/>
          <p:nvPr/>
        </p:nvSpPr>
        <p:spPr>
          <a:xfrm>
            <a:off x="2095500" y="508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DIA (Dow Jones)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Represents 30 blue-chip U.S. industrial stocks.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491A5F1-64FB-8544-4BDA-306924D10F59}"/>
              </a:ext>
            </a:extLst>
          </p:cNvPr>
          <p:cNvSpPr/>
          <p:nvPr/>
        </p:nvSpPr>
        <p:spPr>
          <a:xfrm>
            <a:off x="4445000" y="1397000"/>
            <a:ext cx="3302000" cy="4953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7357C6BD-8981-FD6F-18B3-C269B9024B05}"/>
              </a:ext>
            </a:extLst>
          </p:cNvPr>
          <p:cNvSpPr/>
          <p:nvPr/>
        </p:nvSpPr>
        <p:spPr>
          <a:xfrm>
            <a:off x="4445000" y="1397000"/>
            <a:ext cx="3302000" cy="609600"/>
          </a:xfrm>
          <a:prstGeom prst="roundRect">
            <a:avLst>
              <a:gd name="adj" fmla="val 2500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FE388F0-6CAE-DBF6-1458-962496D5619A}"/>
              </a:ext>
            </a:extLst>
          </p:cNvPr>
          <p:cNvSpPr/>
          <p:nvPr/>
        </p:nvSpPr>
        <p:spPr>
          <a:xfrm>
            <a:off x="4635500" y="1524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Specifications</a:t>
            </a:r>
            <a:endParaRPr lang="en-US" sz="110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54721B39-ADCD-5BB4-C950-CF11A89A3EF5}"/>
              </a:ext>
            </a:extLst>
          </p:cNvPr>
          <p:cNvSpPr/>
          <p:nvPr/>
        </p:nvSpPr>
        <p:spPr>
          <a:xfrm>
            <a:off x="4635500" y="22225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0643874B-3ECA-B7D8-A3DD-54EE9F3E3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2476500"/>
            <a:ext cx="609600" cy="609600"/>
          </a:xfrm>
          <a:prstGeom prst="rect">
            <a:avLst/>
          </a:prstGeom>
        </p:spPr>
      </p:pic>
      <p:sp>
        <p:nvSpPr>
          <p:cNvPr id="21" name="AutoShape 21">
            <a:extLst>
              <a:ext uri="{FF2B5EF4-FFF2-40B4-BE49-F238E27FC236}">
                <a16:creationId xmlns:a16="http://schemas.microsoft.com/office/drawing/2014/main" id="{F978B1AB-C012-7EBB-CFA3-B573BAD26258}"/>
              </a:ext>
            </a:extLst>
          </p:cNvPr>
          <p:cNvSpPr/>
          <p:nvPr/>
        </p:nvSpPr>
        <p:spPr>
          <a:xfrm>
            <a:off x="5588000" y="2349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10-Year Timeframe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Jan 2015 - Jan 2025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Covers multiple market cycles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4A48031-DCE5-F513-1CCC-16342B1CBEAA}"/>
              </a:ext>
            </a:extLst>
          </p:cNvPr>
          <p:cNvSpPr/>
          <p:nvPr/>
        </p:nvSpPr>
        <p:spPr>
          <a:xfrm>
            <a:off x="4635500" y="3556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>
            <a:extLst>
              <a:ext uri="{FF2B5EF4-FFF2-40B4-BE49-F238E27FC236}">
                <a16:creationId xmlns:a16="http://schemas.microsoft.com/office/drawing/2014/main" id="{FE6D4D97-3B3C-7707-347D-2DBC699CE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3810000"/>
            <a:ext cx="609600" cy="609600"/>
          </a:xfrm>
          <a:prstGeom prst="rect">
            <a:avLst/>
          </a:prstGeom>
        </p:spPr>
      </p:pic>
      <p:sp>
        <p:nvSpPr>
          <p:cNvPr id="24" name="AutoShape 24">
            <a:extLst>
              <a:ext uri="{FF2B5EF4-FFF2-40B4-BE49-F238E27FC236}">
                <a16:creationId xmlns:a16="http://schemas.microsoft.com/office/drawing/2014/main" id="{BB9A7F7B-2C48-144A-6C6C-86815A3C1292}"/>
              </a:ext>
            </a:extLst>
          </p:cNvPr>
          <p:cNvSpPr/>
          <p:nvPr/>
        </p:nvSpPr>
        <p:spPr>
          <a:xfrm>
            <a:off x="5588000" y="3683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Daily Frequency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Uses official closing prices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Adjusted for splits/dividends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D01A69D-1AB6-4625-BD8E-A4D48E5C4D24}"/>
              </a:ext>
            </a:extLst>
          </p:cNvPr>
          <p:cNvSpPr/>
          <p:nvPr/>
        </p:nvSpPr>
        <p:spPr>
          <a:xfrm>
            <a:off x="4635500" y="48895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>
            <a:extLst>
              <a:ext uri="{FF2B5EF4-FFF2-40B4-BE49-F238E27FC236}">
                <a16:creationId xmlns:a16="http://schemas.microsoft.com/office/drawing/2014/main" id="{C96F4A15-FFC6-9756-CCC9-AB7FE3F07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000" y="5143500"/>
            <a:ext cx="609600" cy="609600"/>
          </a:xfrm>
          <a:prstGeom prst="rect">
            <a:avLst/>
          </a:prstGeom>
        </p:spPr>
      </p:pic>
      <p:sp>
        <p:nvSpPr>
          <p:cNvPr id="27" name="AutoShape 27">
            <a:extLst>
              <a:ext uri="{FF2B5EF4-FFF2-40B4-BE49-F238E27FC236}">
                <a16:creationId xmlns:a16="http://schemas.microsoft.com/office/drawing/2014/main" id="{3DDFBFBE-F4DC-3E07-DA10-3FD91015EAD4}"/>
              </a:ext>
            </a:extLst>
          </p:cNvPr>
          <p:cNvSpPr/>
          <p:nvPr/>
        </p:nvSpPr>
        <p:spPr>
          <a:xfrm>
            <a:off x="5588000" y="5016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Reliable Source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Yahoo Finance API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Accessed via </a:t>
            </a:r>
            <a:r>
              <a:rPr lang="en-US" sz="11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(</a:t>
            </a:r>
            <a:r>
              <a:rPr lang="en-US" sz="11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yfinance</a:t>
            </a:r>
            <a:r>
              <a:rPr lang="en-US" sz="11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0F479CC-EA9E-1392-CAAC-D183ADB5B485}"/>
              </a:ext>
            </a:extLst>
          </p:cNvPr>
          <p:cNvSpPr/>
          <p:nvPr/>
        </p:nvSpPr>
        <p:spPr>
          <a:xfrm>
            <a:off x="8128000" y="1397000"/>
            <a:ext cx="3302000" cy="4953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id="{E9DF980D-8A0E-5E78-F384-DE8C12BD26CD}"/>
              </a:ext>
            </a:extLst>
          </p:cNvPr>
          <p:cNvSpPr/>
          <p:nvPr/>
        </p:nvSpPr>
        <p:spPr>
          <a:xfrm>
            <a:off x="8128000" y="1397000"/>
            <a:ext cx="3302000" cy="609600"/>
          </a:xfrm>
          <a:prstGeom prst="roundRect">
            <a:avLst>
              <a:gd name="adj" fmla="val 2500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id="{EB6CAC2B-9030-C6DB-E593-554C44C13A74}"/>
              </a:ext>
            </a:extLst>
          </p:cNvPr>
          <p:cNvSpPr/>
          <p:nvPr/>
        </p:nvSpPr>
        <p:spPr>
          <a:xfrm>
            <a:off x="8318500" y="1524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Processing Pipeline</a:t>
            </a:r>
            <a:endParaRPr lang="en-US" sz="1100"/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91ED2D5A-C97D-E787-A057-6FBC92CDECD4}"/>
              </a:ext>
            </a:extLst>
          </p:cNvPr>
          <p:cNvSpPr/>
          <p:nvPr/>
        </p:nvSpPr>
        <p:spPr>
          <a:xfrm>
            <a:off x="8318500" y="22225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5823077A-0685-3D75-837E-7C53DD421C07}"/>
              </a:ext>
            </a:extLst>
          </p:cNvPr>
          <p:cNvSpPr/>
          <p:nvPr/>
        </p:nvSpPr>
        <p:spPr>
          <a:xfrm>
            <a:off x="8509000" y="2349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01. Log Returns Calculation</a:t>
            </a:r>
            <a:endParaRPr lang="en-US" sz="1100"/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F57E2D41-089F-BEC2-0F16-9F7F63CAB577}"/>
              </a:ext>
            </a:extLst>
          </p:cNvPr>
          <p:cNvSpPr/>
          <p:nvPr/>
        </p:nvSpPr>
        <p:spPr>
          <a:xfrm>
            <a:off x="8509000" y="2794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005F60">
              <a:alpha val="8000"/>
            </a:srgbClr>
          </a:solidFill>
          <a:ln w="12700" cap="flat" cmpd="sng">
            <a:solidFill>
              <a:srgbClr val="005F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C58A9E18-2DD5-EA98-3734-0CF8D1C1B13A}"/>
              </a:ext>
            </a:extLst>
          </p:cNvPr>
          <p:cNvSpPr/>
          <p:nvPr/>
        </p:nvSpPr>
        <p:spPr>
          <a:xfrm>
            <a:off x="8509000" y="292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rₜ = ln(Pₜ / Pₜ₋₁)</a:t>
            </a:r>
            <a:endParaRPr lang="en-US" sz="1100"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92CE4E46-AC9D-D642-BF88-B9C800BDC7FD}"/>
              </a:ext>
            </a:extLst>
          </p:cNvPr>
          <p:cNvSpPr/>
          <p:nvPr/>
        </p:nvSpPr>
        <p:spPr>
          <a:xfrm>
            <a:off x="8318500" y="3937000"/>
            <a:ext cx="2921000" cy="1651000"/>
          </a:xfrm>
          <a:prstGeom prst="roundRect">
            <a:avLst>
              <a:gd name="adj" fmla="val 6153"/>
            </a:avLst>
          </a:prstGeom>
          <a:solidFill>
            <a:srgbClr val="F3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6B77B8E6-1288-A8EB-3954-57B538E956C7}"/>
              </a:ext>
            </a:extLst>
          </p:cNvPr>
          <p:cNvSpPr/>
          <p:nvPr/>
        </p:nvSpPr>
        <p:spPr>
          <a:xfrm>
            <a:off x="8509000" y="4127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02. Realized Volatility Proxy</a:t>
            </a:r>
            <a:endParaRPr lang="en-US" sz="1100"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504C6CCC-E426-17AF-2E3C-EAA78C12823E}"/>
              </a:ext>
            </a:extLst>
          </p:cNvPr>
          <p:cNvSpPr/>
          <p:nvPr/>
        </p:nvSpPr>
        <p:spPr>
          <a:xfrm>
            <a:off x="8509000" y="4572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B84401AE-062A-AD63-185B-64540346335F}"/>
              </a:ext>
            </a:extLst>
          </p:cNvPr>
          <p:cNvSpPr/>
          <p:nvPr/>
        </p:nvSpPr>
        <p:spPr>
          <a:xfrm>
            <a:off x="8636000" y="469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21-day rolling variance as volatility proxy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0679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876" y="448003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 Motivation &amp; Data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Stylized Fact: Volatility Clustering in ETF Returns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14704" y="2157248"/>
            <a:ext cx="4393324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Key Observation:</a:t>
            </a: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Volatility is time-varying  </a:t>
            </a: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Volatility clustering (persistence)  </a:t>
            </a: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Extreme events (e.g., 2020)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5530366" y="6028997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 Figure:  Squared Log Returns (Volatility Proxy)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9A2DC-0826-BF4C-74E0-6F6E12F0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056" y="1629214"/>
            <a:ext cx="6983248" cy="4385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Evidence of Non-Normality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28700" y="203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Non-Normal Returns:</a:t>
            </a:r>
          </a:p>
          <a:p>
            <a:pPr marL="171450" indent="-171450" algn="l">
              <a:lnSpc>
                <a:spcPct val="108333"/>
              </a:lnSpc>
              <a:buFontTx/>
              <a:buChar char="-"/>
              <a:defRPr/>
            </a:pP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Negative skewness → downside risk</a:t>
            </a:r>
          </a:p>
          <a:p>
            <a:pPr marL="171450" indent="-171450" algn="l">
              <a:lnSpc>
                <a:spcPct val="108333"/>
              </a:lnSpc>
              <a:buFontTx/>
              <a:buChar char="-"/>
              <a:defRPr/>
            </a:pP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Excess kurtosis → fat tails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889000" y="2794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005F6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98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921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Negative Skewness (Downside Risk)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651000" y="32512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Indicates a higher probability of large negative returns, meaning losses are more severe than gains.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3873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005F6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406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000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Excess Kurtosis ("Fat Tails")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3307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Extreme market events (crashes/rallies) occur much more frequently than predicted by a normal distribution.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643909"/>
              </p:ext>
            </p:extLst>
          </p:nvPr>
        </p:nvGraphicFramePr>
        <p:xfrm>
          <a:off x="889000" y="4862830"/>
          <a:ext cx="4635500" cy="14046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73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Metric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SPY (S&amp;P500)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QQQ (Nasdaq)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DIA (Dow)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4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Skewness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-0.8007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-0.5531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-0.9835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4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cap="none" dirty="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sym typeface="Arial"/>
                        </a:rPr>
                        <a:t>Kurtosis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dirty="0"/>
                        <a:t>↑↑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dirty="0"/>
                        <a:t>↑↑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dirty="0"/>
                        <a:t>↑↑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47913"/>
                  </a:ext>
                </a:extLst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6223000" y="1397000"/>
            <a:ext cx="4953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41948" y="1667164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Evidence of ARCH Effects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399906" y="1905000"/>
            <a:ext cx="473511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16666"/>
              </a:lnSpc>
              <a:buFontTx/>
              <a:buChar char="-"/>
              <a:defRPr/>
            </a:pP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Significant ACF in squared returns → volatility clustering</a:t>
            </a:r>
          </a:p>
          <a:p>
            <a:pPr marL="171450" indent="-171450" algn="l">
              <a:lnSpc>
                <a:spcPct val="116666"/>
              </a:lnSpc>
              <a:buFontTx/>
              <a:buChar char="-"/>
              <a:defRPr/>
            </a:pP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ARCH-LM test p-values ≈ 0 → confirms conditional heteroskedasticity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392979" y="504825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ACF of Squared Returns (SPY)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8D2C77-B581-B67D-223D-D9A544882C3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16781" y="2921000"/>
            <a:ext cx="5095334" cy="2001520"/>
          </a:xfrm>
          <a:prstGeom prst="rect">
            <a:avLst/>
          </a:prstGeom>
        </p:spPr>
      </p:pic>
      <p:sp>
        <p:nvSpPr>
          <p:cNvPr id="26" name="AutoShape 3">
            <a:extLst>
              <a:ext uri="{FF2B5EF4-FFF2-40B4-BE49-F238E27FC236}">
                <a16:creationId xmlns:a16="http://schemas.microsoft.com/office/drawing/2014/main" id="{E73FDA7D-676A-2E73-14BD-AAF44046E3E5}"/>
              </a:ext>
            </a:extLst>
          </p:cNvPr>
          <p:cNvSpPr/>
          <p:nvPr/>
        </p:nvSpPr>
        <p:spPr>
          <a:xfrm>
            <a:off x="635876" y="448003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 Motivation &amp; Data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Stylized Facts: Non-Normality &amp; ARCH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381000"/>
            <a:ext cx="1092430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02 Volatility Modeling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GARCH Family Models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5F6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38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651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Symmetric Model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D3E"/>
                </a:solidFill>
                <a:latin typeface="Noto Sans SC"/>
                <a:ea typeface="Noto Sans SC"/>
                <a:cs typeface="Noto Sans SC"/>
                <a:sym typeface="Noto Sans SC"/>
              </a:rPr>
              <a:t>GARCH(1,1) (Symmetric)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Model volatility clustering using past shocks and past variance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0F7F7">
              <a:alpha val="100000"/>
            </a:srgbClr>
          </a:solidFill>
          <a:ln w="12700" cap="flat" cmpd="sng">
            <a:solidFill>
              <a:srgbClr val="005F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4064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σₜ² = ω + αεₜ₋₁²</a:t>
            </a:r>
            <a:br>
              <a:rPr lang="en-US" sz="1100" b="0" i="0" u="none" strike="noStrike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 b="0" i="0" u="none" strike="noStrike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+ βσₜ₋₁²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445000" y="1397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5F6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45000" y="1397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638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1651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EGARCH (Log-form asymmetry)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4699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D3E"/>
                </a:solidFill>
                <a:latin typeface="Noto Sans SC"/>
                <a:ea typeface="Noto Sans SC"/>
                <a:cs typeface="Noto Sans SC"/>
                <a:sym typeface="Noto Sans SC"/>
              </a:rPr>
              <a:t>EGARCH (Exponential GARCH)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2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Model asymmetry and ensures positivity via log variance</a:t>
            </a:r>
          </a:p>
          <a:p>
            <a:pPr>
              <a:lnSpc>
                <a:spcPct val="108333"/>
              </a:lnSpc>
              <a:defRPr/>
            </a:pPr>
            <a:r>
              <a:rPr lang="en-US" sz="12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Captures the leverage effect (negative shocks increase volatility more)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4699000" y="3937000"/>
            <a:ext cx="2794000" cy="1524000"/>
          </a:xfrm>
          <a:prstGeom prst="roundRect">
            <a:avLst>
              <a:gd name="adj" fmla="val 6666"/>
            </a:avLst>
          </a:prstGeom>
          <a:solidFill>
            <a:srgbClr val="F0F7F7">
              <a:alpha val="100000"/>
            </a:srgbClr>
          </a:solidFill>
          <a:ln w="12700" cap="flat" cmpd="sng">
            <a:solidFill>
              <a:srgbClr val="005F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826000" y="4064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ln(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σ_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t²) = 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ω + β 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ln(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σ_{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t-1}²) + 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α (|ε_{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t-1}| / 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σ_{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 − </a:t>
            </a:r>
            <a:r>
              <a:rPr lang="en-US" sz="1000" dirty="0" err="1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E|z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|) + 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γ (ε_{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 / </a:t>
            </a:r>
            <a:r>
              <a:rPr lang="el-GR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σ_{</a:t>
            </a:r>
            <a:r>
              <a:rPr lang="en-US" sz="10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t-1})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8128000" y="1397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5F6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28000" y="1397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164465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63000" y="16637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GJR-GARCH (Threshold asymmetry)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8382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D3E"/>
                </a:solidFill>
                <a:latin typeface="Noto Sans SC"/>
                <a:ea typeface="Noto Sans SC"/>
                <a:cs typeface="Noto Sans SC"/>
                <a:sym typeface="Noto Sans SC"/>
              </a:rPr>
              <a:t>GJR-GARCH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2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Captures asymmetric response via an indicator for negative shocks</a:t>
            </a:r>
          </a:p>
          <a:p>
            <a:pPr>
              <a:lnSpc>
                <a:spcPct val="108333"/>
              </a:lnSpc>
              <a:defRPr/>
            </a:pPr>
            <a:r>
              <a:rPr lang="en-US" sz="12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γ &gt; 0 implies a stronger impact of negative shocks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8382000" y="3937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0F7F7">
              <a:alpha val="100000"/>
            </a:srgbClr>
          </a:solidFill>
          <a:ln w="12700" cap="flat" cmpd="sng">
            <a:solidFill>
              <a:srgbClr val="005F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509000" y="4064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l-GR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σ_</a:t>
            </a: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t² = </a:t>
            </a:r>
            <a:r>
              <a:rPr lang="el-GR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ω + α ε_{</a:t>
            </a: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t-1}²</a:t>
            </a:r>
          </a:p>
          <a:p>
            <a:pPr indent="0" algn="ctr">
              <a:lnSpc>
                <a:spcPct val="108333"/>
              </a:lnSpc>
              <a:defRPr/>
            </a:pP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      + </a:t>
            </a:r>
            <a:r>
              <a:rPr lang="el-GR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γ </a:t>
            </a: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I_{t-1} </a:t>
            </a:r>
            <a:r>
              <a:rPr lang="el-GR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ε_{</a:t>
            </a: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t-1}²</a:t>
            </a:r>
          </a:p>
          <a:p>
            <a:pPr indent="0" algn="ctr">
              <a:lnSpc>
                <a:spcPct val="108333"/>
              </a:lnSpc>
              <a:defRPr/>
            </a:pP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      + </a:t>
            </a:r>
            <a:r>
              <a:rPr lang="el-GR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β σ_{</a:t>
            </a:r>
            <a:r>
              <a:rPr lang="en-US" sz="1100" dirty="0">
                <a:solidFill>
                  <a:srgbClr val="005F60"/>
                </a:solidFill>
                <a:latin typeface="Roboto Mono"/>
                <a:ea typeface="Roboto Mono"/>
                <a:cs typeface="Roboto Mono"/>
                <a:sym typeface="Roboto Mono"/>
              </a:rPr>
              <a:t>t-1}²</a:t>
            </a:r>
            <a:endParaRPr 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180BDD-0FB0-C4C2-77F9-E978E37A9F4A}"/>
              </a:ext>
            </a:extLst>
          </p:cNvPr>
          <p:cNvSpPr txBox="1"/>
          <p:nvPr/>
        </p:nvSpPr>
        <p:spPr>
          <a:xfrm>
            <a:off x="3176154" y="59563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55555"/>
                </a:solidFill>
                <a:latin typeface="Noto Sans SC"/>
                <a:ea typeface="Noto Sans SC"/>
              </a:rPr>
              <a:t>Based on the stylized facts, I first use GARCH to capture volatility clustering, and then extend to EGARCH and GJR-GARCH to account for asymmetric volatility dynamics.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1999" y="508000"/>
            <a:ext cx="826495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03 Forecast Evaluation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Out-of-Sample Evaluation Strategy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556000" cy="4953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556000" cy="762000"/>
          </a:xfrm>
          <a:prstGeom prst="roundRect">
            <a:avLst>
              <a:gd name="adj" fmla="val 2000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494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524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 Estimation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3048000" cy="1143000"/>
          </a:xfrm>
          <a:prstGeom prst="roundRect">
            <a:avLst>
              <a:gd name="adj" fmla="val 8888"/>
            </a:avLst>
          </a:prstGeom>
          <a:solidFill>
            <a:srgbClr val="005F6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06500" y="25400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Core Method: MLE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2921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 employ Maximum</a:t>
            </a: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Likelihood Estimation 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to estimate the parameters of all models, which is standard in econometric research.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016000" y="3810000"/>
            <a:ext cx="3048000" cy="1143000"/>
          </a:xfrm>
          <a:prstGeom prst="roundRect">
            <a:avLst>
              <a:gd name="adj" fmla="val 8888"/>
            </a:avLst>
          </a:prstGeom>
          <a:solidFill>
            <a:srgbClr val="005F6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06500" y="39370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Distribution Assumption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06500" y="4318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Residuals are assumed to follow a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Normal Distribution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, ensuring the validity of statistical inference in our model.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005F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143000" y="5334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"MLE provides efficient and consistent parameter estimates."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1397000"/>
            <a:ext cx="685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572000" y="1397000"/>
            <a:ext cx="6858000" cy="762000"/>
          </a:xfrm>
          <a:prstGeom prst="roundRect">
            <a:avLst>
              <a:gd name="adj" fmla="val 20000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15494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397500" y="152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Out-of-Sample Forecasting Strategy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826000" y="2286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Rolling Window Approach (Simulating Real-World Scenarios)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826000" y="2794000"/>
            <a:ext cx="3048000" cy="889000"/>
          </a:xfrm>
          <a:prstGeom prst="roundRect">
            <a:avLst>
              <a:gd name="adj" fmla="val 11428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500" y="298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461000" y="28956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15E59"/>
                </a:solidFill>
                <a:latin typeface="Noto Sans SC"/>
                <a:ea typeface="Noto Sans SC"/>
                <a:cs typeface="Noto Sans SC"/>
                <a:sym typeface="Noto Sans SC"/>
              </a:rPr>
              <a:t>Training Set (In-sample)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2015-01-01 ~ 2022-12-31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2794000"/>
            <a:ext cx="3048000" cy="88900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98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36000" y="28956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Test Set (Out-of-sample)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2023-01-01 ~ 2025-01-01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826000" y="39370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Iterative Forecasting Process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826000" y="4381500"/>
            <a:ext cx="1460500" cy="1016000"/>
          </a:xfrm>
          <a:prstGeom prst="roundRect">
            <a:avLst>
              <a:gd name="adj" fmla="val 75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953000" y="4445000"/>
            <a:ext cx="120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Estimate Params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w/ Initial Train Set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13500" y="4381500"/>
            <a:ext cx="1460500" cy="1016000"/>
          </a:xfrm>
          <a:prstGeom prst="roundRect">
            <a:avLst>
              <a:gd name="adj" fmla="val 75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540500" y="4445000"/>
            <a:ext cx="120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Forecast Volatility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for Next Day (t+1)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01000" y="4381500"/>
            <a:ext cx="1460500" cy="1016000"/>
          </a:xfrm>
          <a:prstGeom prst="roundRect">
            <a:avLst>
              <a:gd name="adj" fmla="val 75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001000" y="4445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Roll Window Forward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Add New Observation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9588500" y="4381500"/>
            <a:ext cx="1460500" cy="1016000"/>
          </a:xfrm>
          <a:prstGeom prst="roundRect">
            <a:avLst>
              <a:gd name="adj" fmla="val 75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9715500" y="4445000"/>
            <a:ext cx="120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Repeat Process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Until End of Test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826000" y="5588000"/>
            <a:ext cx="6350000" cy="508000"/>
          </a:xfrm>
          <a:prstGeom prst="roundRect">
            <a:avLst>
              <a:gd name="adj" fmla="val 20000"/>
            </a:avLst>
          </a:prstGeom>
          <a:solidFill>
            <a:srgbClr val="005F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0" y="56896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5334000" y="5651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Key Benefit: This strict process eliminates "Look-ahead Bias" by only utilizing past information for prediction.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03 Forecast Evaluation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4953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Benchmark: Realized Volatility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21-day rolling variance as proxy</a:t>
            </a: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Represents “true” volatility.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127" b="127"/>
          <a:stretch>
            <a:fillRect/>
          </a:stretch>
        </p:blipFill>
        <p:spPr>
          <a:xfrm>
            <a:off x="1016000" y="2921000"/>
            <a:ext cx="4445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55245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1: QQQ 21-day Rolling Realized Variance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1270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2700000" algn="tl" rotWithShape="0">
              <a:srgbClr val="005F6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5240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460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Mean Squared Error (MSE)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0" y="18415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penalizes large errors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112000" y="2349500"/>
            <a:ext cx="3937000" cy="355600"/>
          </a:xfrm>
          <a:prstGeom prst="roundRect">
            <a:avLst>
              <a:gd name="adj" fmla="val 21428"/>
            </a:avLst>
          </a:prstGeom>
          <a:solidFill>
            <a:srgbClr val="E6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239000" y="23876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4040"/>
                </a:solidFill>
                <a:latin typeface="Noto Sans SC"/>
                <a:ea typeface="Noto Sans SC"/>
                <a:cs typeface="Noto Sans SC"/>
                <a:sym typeface="Noto Sans SC"/>
              </a:rPr>
              <a:t>MSE = (1/T) Σ (σₜ² - σ̂ₜ²)²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969000" y="29845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2700000" algn="tl" rotWithShape="0">
              <a:srgbClr val="005F6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000" y="32385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1750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Mean Absolute Error (MAE)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5560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robust to outliers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112000" y="4064000"/>
            <a:ext cx="3937000" cy="355600"/>
          </a:xfrm>
          <a:prstGeom prst="roundRect">
            <a:avLst>
              <a:gd name="adj" fmla="val 21428"/>
            </a:avLst>
          </a:prstGeom>
          <a:solidFill>
            <a:srgbClr val="E6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239000" y="41021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4040"/>
                </a:solidFill>
                <a:latin typeface="Noto Sans SC"/>
                <a:ea typeface="Noto Sans SC"/>
                <a:cs typeface="Noto Sans SC"/>
                <a:sym typeface="Noto Sans SC"/>
              </a:rPr>
              <a:t>MAE = (1/T) Σ |σₜ² - σ̂ₜ²|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969000" y="4699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2700000" algn="tl" rotWithShape="0">
              <a:srgbClr val="005F6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4953000"/>
            <a:ext cx="635000" cy="635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4889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QLIKE Loss Function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7112000" y="52705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sensitive to underestimation (important for risk)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112000" y="5778500"/>
            <a:ext cx="3937000" cy="355600"/>
          </a:xfrm>
          <a:prstGeom prst="roundRect">
            <a:avLst>
              <a:gd name="adj" fmla="val 21428"/>
            </a:avLst>
          </a:prstGeom>
          <a:solidFill>
            <a:srgbClr val="E6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239000" y="58166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4040"/>
                </a:solidFill>
                <a:latin typeface="Noto Sans SC"/>
                <a:ea typeface="Noto Sans SC"/>
                <a:cs typeface="Noto Sans SC"/>
                <a:sym typeface="Noto Sans SC"/>
              </a:rPr>
              <a:t>QLIKE = (1/T) Σ [ ln(σ̂ₜ²) + (σₜ² / σ̂ₜ²) ]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EBCDA-DAFA-28D4-0CEE-92D0AE862B36}"/>
              </a:ext>
            </a:extLst>
          </p:cNvPr>
          <p:cNvSpPr txBox="1"/>
          <p:nvPr/>
        </p:nvSpPr>
        <p:spPr>
          <a:xfrm>
            <a:off x="3875228" y="6323111"/>
            <a:ext cx="60972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555555"/>
                </a:solidFill>
                <a:latin typeface="Noto Sans SC"/>
                <a:ea typeface="Noto Sans SC"/>
              </a:rPr>
              <a:t>LoIr</a:t>
            </a:r>
            <a:r>
              <a:rPr lang="en-US" sz="1600" dirty="0">
                <a:solidFill>
                  <a:srgbClr val="555555"/>
                </a:solidFill>
                <a:latin typeface="Noto Sans SC"/>
                <a:ea typeface="Noto Sans SC"/>
              </a:rPr>
              <a:t> loss = better forecasting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400" b="1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Forecast Evaluation</a:t>
            </a:r>
            <a:endParaRPr lang="en-US" sz="2400" b="1" i="0" u="none" strike="noStrike" dirty="0">
              <a:solidFill>
                <a:srgbClr val="005F6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Model Comparison Results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01596"/>
            <a:ext cx="5080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92096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🔑 Key Finding: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840029" y="2450896"/>
            <a:ext cx="492394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GARCH(1,1) outperforms all models across assets and metrics</a:t>
            </a:r>
            <a:endParaRPr lang="en-US" sz="1100" b="1" dirty="0"/>
          </a:p>
        </p:txBody>
      </p:sp>
      <p:sp>
        <p:nvSpPr>
          <p:cNvPr id="7" name="AutoShape 7"/>
          <p:cNvSpPr/>
          <p:nvPr/>
        </p:nvSpPr>
        <p:spPr>
          <a:xfrm>
            <a:off x="762000" y="3606596"/>
            <a:ext cx="5080000" cy="1323848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797096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💡 Why complex models fail</a:t>
            </a:r>
            <a:r>
              <a:rPr lang="zh-CN" alt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241596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Capture asymmetry in-sample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Worse out-of-sample → overfitting</a:t>
            </a:r>
            <a:endParaRPr lang="en-US" sz="1200" dirty="0"/>
          </a:p>
        </p:txBody>
      </p:sp>
      <p:sp>
        <p:nvSpPr>
          <p:cNvPr id="10" name="AutoShape 10"/>
          <p:cNvSpPr/>
          <p:nvPr/>
        </p:nvSpPr>
        <p:spPr>
          <a:xfrm>
            <a:off x="6604002" y="1334261"/>
            <a:ext cx="4467149" cy="4157269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11698" y="1321562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📊 Forecast Metrics Summary (</a:t>
            </a:r>
            <a:r>
              <a:rPr lang="en-US" sz="14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LoIst</a:t>
            </a:r>
            <a:r>
              <a:rPr lang="en-US" sz="1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 in Bold)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839363-91D0-00AB-1958-694E7D2B8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2" y="1702562"/>
            <a:ext cx="3920541" cy="38080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04 Value-at-Risk (</a:t>
            </a:r>
            <a:r>
              <a:rPr lang="en-US" sz="32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) Forecasting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30403" y="1740814"/>
            <a:ext cx="5080000" cy="2641600"/>
          </a:xfrm>
          <a:prstGeom prst="roundRect">
            <a:avLst>
              <a:gd name="adj" fmla="val 923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5F60">
                <a:alpha val="1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84403" y="1931314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From Volatility Forecast to Risk Measurement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84403" y="2375814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Volatility forecasts → input for risk models</a:t>
            </a: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I convert σ̂ₜ into </a:t>
            </a:r>
            <a:r>
              <a:rPr lang="en-US" sz="12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endParaRPr lang="en-US" sz="12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Goal: evaluate practical risk usefulness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84403" y="3506114"/>
            <a:ext cx="4572000" cy="533400"/>
          </a:xfrm>
          <a:prstGeom prst="roundRect">
            <a:avLst>
              <a:gd name="adj" fmla="val 19047"/>
            </a:avLst>
          </a:prstGeom>
          <a:solidFill>
            <a:srgbClr val="005F6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403" y="3595014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4B4C"/>
                </a:solidFill>
                <a:latin typeface="Noto Sans SC"/>
                <a:ea typeface="Noto Sans SC"/>
                <a:cs typeface="Noto Sans SC"/>
                <a:sym typeface="Noto Sans SC"/>
              </a:rPr>
              <a:t>VaRₜ = μ + zₐ × σ̂ₜ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66815" y="1440890"/>
            <a:ext cx="6164275" cy="4996485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5F60">
                <a:alpha val="1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020816" y="1631391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Dynamic </a:t>
            </a:r>
            <a:r>
              <a:rPr lang="en-US" sz="16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 Forecast (QQQ)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020815" y="5441518"/>
            <a:ext cx="4849571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1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dynamically adjusts to changing volatility conditions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4D4971-B306-BC38-959A-CB8B2033F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815" y="2085963"/>
            <a:ext cx="6094782" cy="3355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26200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4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24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Backtesting</a:t>
            </a:r>
            <a:endParaRPr lang="en-US" sz="2400" b="1" i="0" u="none" strike="noStrike" dirty="0">
              <a:solidFill>
                <a:srgbClr val="005F6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 model is Ill-calibrated and statistically valid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Failure Rate ≈ Expected Level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Close to 5% (95% </a:t>
            </a:r>
            <a:r>
              <a:rPr lang="en-US" sz="11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1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Close to 1% (99% </a:t>
            </a:r>
            <a:r>
              <a:rPr lang="en-US" sz="11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1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2794000"/>
          <a:ext cx="4699000" cy="18643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Expected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Actual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QQQ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A580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5.38%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QQQ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A580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A580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5.58%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A580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4.78%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223000" y="139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Kupiec Test: No Rejection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 statistical test to formally check if the actual failure rate is significantly different from the expected rate. Null hypothesis: the model is correctly specified.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477000" y="2794000"/>
          <a:ext cx="4699000" cy="18643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p-value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Conclusion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F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QQQ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0.701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Not Reject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QQQ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Not Reject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0.560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Not Reject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0.821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Not Reject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524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56769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forecasts pass statistical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backtesting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and are reliable for risk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Risk Management Insights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812800" cy="812800"/>
          </a:xfrm>
          <a:prstGeom prst="ellipse">
            <a:avLst/>
          </a:prstGeom>
          <a:solidFill>
            <a:srgbClr val="005F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19177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1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Dynamic Risk Assessment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032000" y="2222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Time-varying volatility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adapts to market conditions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714500"/>
            <a:ext cx="812800" cy="812800"/>
          </a:xfrm>
          <a:prstGeom prst="ellipse">
            <a:avLst/>
          </a:prstGeom>
          <a:solidFill>
            <a:srgbClr val="005F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19177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171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Robustness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493000" y="2222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GARCH(1,1) outperforms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Out-of-sample &gt; model complexity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5" name="AutoShape 15"/>
          <p:cNvSpPr/>
          <p:nvPr/>
        </p:nvSpPr>
        <p:spPr>
          <a:xfrm>
            <a:off x="1016000" y="4254500"/>
            <a:ext cx="812800" cy="812800"/>
          </a:xfrm>
          <a:prstGeom prst="ellipse">
            <a:avLst/>
          </a:prstGeom>
          <a:solidFill>
            <a:srgbClr val="005F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44577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032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ES / CVaR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2032000" y="47625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misses tail severity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Use ES / CVaR for full risk view  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5F6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254500"/>
            <a:ext cx="812800" cy="812800"/>
          </a:xfrm>
          <a:prstGeom prst="ellipse">
            <a:avLst/>
          </a:prstGeom>
          <a:solidFill>
            <a:srgbClr val="005F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0200" y="44577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Backtesting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493000" y="47625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Validate model reliability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Required before real-world use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1999" y="508000"/>
            <a:ext cx="1009375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Limitations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Model performance is subject to distributional assumptions and data limitations</a:t>
            </a:r>
            <a:endParaRPr lang="en-US" sz="3200" b="1" i="0" u="none" strike="noStrike" dirty="0">
              <a:solidFill>
                <a:srgbClr val="005F6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812800" cy="8128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1854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1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Distribution Assumption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28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Normality underestimates tail risk</a:t>
            </a: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Use fat-tailed distributions (e.g. t)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651000"/>
            <a:ext cx="812800" cy="8128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18542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171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Risk Measure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493000" y="228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Focus on 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 only</a:t>
            </a: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Missing tail severity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191000"/>
            <a:ext cx="812800" cy="8128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4394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032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Model Stability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32000" y="482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Assumes stable volatility dynamics</a:t>
            </a: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May fail under regime shifts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191000"/>
            <a:ext cx="812800" cy="8128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0200" y="43942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Volatility Proxy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93000" y="482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Rolling variance is a rough proxy</a:t>
            </a:r>
          </a:p>
          <a:p>
            <a:pPr marL="171450" indent="-1714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High-frequency data improves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</a:t>
            </a:r>
          </a:p>
          <a:p>
            <a:pPr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005F60"/>
                </a:solidFill>
                <a:latin typeface="Noto Sans SC"/>
                <a:ea typeface="Noto Sans SC"/>
              </a:rPr>
              <a:t>Simple models outperform complex ones and deliver reliable risk estimates</a:t>
            </a: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762000" cy="7620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19685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GARCH(1,1) Outperforms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032000" y="2095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Best out-of-sample performance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Robust across assets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778000"/>
            <a:ext cx="762000" cy="7620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968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Reliable </a:t>
            </a:r>
            <a:r>
              <a:rPr lang="en-US" sz="1600" b="1" i="0" u="none" strike="noStrike" dirty="0" err="1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VaR</a:t>
            </a: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 Measure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493000" y="2095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Ill-calibrated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Passes </a:t>
            </a: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backtesting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3810000"/>
            <a:ext cx="762000" cy="7620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0005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Practical Implication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2032000" y="412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Simple models work in practice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Robustness &gt; complexity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223000" y="342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3810000"/>
            <a:ext cx="762000" cy="762000"/>
          </a:xfrm>
          <a:prstGeom prst="ellipse">
            <a:avLst/>
          </a:prstGeom>
          <a:solidFill>
            <a:srgbClr val="005F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0005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Future Research Directions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412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Fat-tailed distributions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Expected Shortfall (ES)</a:t>
            </a:r>
          </a:p>
          <a:p>
            <a:pPr marL="171450" indent="-1714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Regime-switching models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005F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613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Overall, this project provides a clear case study on selecting and validating an effective risk management tool through rigorous empirical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5F6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QUESTIONS &amp; ANSIRS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YOUR ATTENTION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2545</TotalTime>
  <Words>2621</Words>
  <Application>Microsoft Office PowerPoint</Application>
  <PresentationFormat>Widescreen</PresentationFormat>
  <Paragraphs>373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Noto Sans SC</vt:lpstr>
      <vt:lpstr>Arial</vt:lpstr>
      <vt:lpstr>Roboto Mono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Fenglei Wu</dc:creator>
  <cp:lastModifiedBy>Fenglei Wu</cp:lastModifiedBy>
  <cp:revision>2</cp:revision>
  <dcterms:modified xsi:type="dcterms:W3CDTF">2026-04-27T22:33:23Z</dcterms:modified>
</cp:coreProperties>
</file>