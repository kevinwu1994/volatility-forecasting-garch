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19"/>
  </p:notesMasterIdLst>
  <p:sldIdLst>
    <p:sldId id="256" r:id="rId3"/>
    <p:sldId id="257" r:id="rId4"/>
    <p:sldId id="258" r:id="rId5"/>
    <p:sldId id="272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02B0B8-7196-4050-91B2-EF53782DBC24}" v="241" dt="2026-04-18T04:40:56.2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21" autoAdjust="0"/>
  </p:normalViewPr>
  <p:slideViewPr>
    <p:cSldViewPr snapToGrid="0">
      <p:cViewPr varScale="1">
        <p:scale>
          <a:sx n="131" d="100"/>
          <a:sy n="131" d="100"/>
        </p:scale>
        <p:origin x="138" y="3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nglei Wu" userId="828226bcb4b7d480" providerId="LiveId" clId="{EEAF5C2D-A027-4356-8A1D-C45EA2232EDA}"/>
    <pc:docChg chg="undo redo custSel addSld delSld modSld">
      <pc:chgData name="Fenglei Wu" userId="828226bcb4b7d480" providerId="LiveId" clId="{EEAF5C2D-A027-4356-8A1D-C45EA2232EDA}" dt="2026-04-18T05:19:00.889" v="695" actId="20577"/>
      <pc:docMkLst>
        <pc:docMk/>
      </pc:docMkLst>
      <pc:sldChg chg="modSp mod">
        <pc:chgData name="Fenglei Wu" userId="828226bcb4b7d480" providerId="LiveId" clId="{EEAF5C2D-A027-4356-8A1D-C45EA2232EDA}" dt="2026-04-16T22:23:06.098" v="134" actId="20577"/>
        <pc:sldMkLst>
          <pc:docMk/>
          <pc:sldMk cId="0" sldId="256"/>
        </pc:sldMkLst>
        <pc:spChg chg="mod">
          <ac:chgData name="Fenglei Wu" userId="828226bcb4b7d480" providerId="LiveId" clId="{EEAF5C2D-A027-4356-8A1D-C45EA2232EDA}" dt="2026-04-16T22:23:06.098" v="134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modSp mod">
        <pc:chgData name="Fenglei Wu" userId="828226bcb4b7d480" providerId="LiveId" clId="{EEAF5C2D-A027-4356-8A1D-C45EA2232EDA}" dt="2026-04-16T22:27:52.135" v="178" actId="20577"/>
        <pc:sldMkLst>
          <pc:docMk/>
          <pc:sldMk cId="0" sldId="257"/>
        </pc:sldMkLst>
        <pc:spChg chg="mod">
          <ac:chgData name="Fenglei Wu" userId="828226bcb4b7d480" providerId="LiveId" clId="{EEAF5C2D-A027-4356-8A1D-C45EA2232EDA}" dt="2026-04-16T22:25:47.087" v="142" actId="14100"/>
          <ac:spMkLst>
            <pc:docMk/>
            <pc:sldMk cId="0" sldId="257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6T06:25:22.089" v="19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Fenglei Wu" userId="828226bcb4b7d480" providerId="LiveId" clId="{EEAF5C2D-A027-4356-8A1D-C45EA2232EDA}" dt="2026-04-16T06:25:24.065" v="20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Fenglei Wu" userId="828226bcb4b7d480" providerId="LiveId" clId="{EEAF5C2D-A027-4356-8A1D-C45EA2232EDA}" dt="2026-04-16T22:26:40.186" v="160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Fenglei Wu" userId="828226bcb4b7d480" providerId="LiveId" clId="{EEAF5C2D-A027-4356-8A1D-C45EA2232EDA}" dt="2026-04-16T22:27:30.050" v="169" actId="20577"/>
          <ac:spMkLst>
            <pc:docMk/>
            <pc:sldMk cId="0" sldId="257"/>
            <ac:spMk id="68" creationId="{605AAAE4-1B1C-4F4F-B094-3D485C459CBC}"/>
          </ac:spMkLst>
        </pc:spChg>
        <pc:spChg chg="mod">
          <ac:chgData name="Fenglei Wu" userId="828226bcb4b7d480" providerId="LiveId" clId="{EEAF5C2D-A027-4356-8A1D-C45EA2232EDA}" dt="2026-04-16T22:27:10.121" v="166" actId="20577"/>
          <ac:spMkLst>
            <pc:docMk/>
            <pc:sldMk cId="0" sldId="257"/>
            <ac:spMk id="73" creationId="{68283B3B-13AC-5152-8F0D-37B8985408E6}"/>
          </ac:spMkLst>
        </pc:spChg>
        <pc:spChg chg="mod">
          <ac:chgData name="Fenglei Wu" userId="828226bcb4b7d480" providerId="LiveId" clId="{EEAF5C2D-A027-4356-8A1D-C45EA2232EDA}" dt="2026-04-16T22:27:52.135" v="178" actId="20577"/>
          <ac:spMkLst>
            <pc:docMk/>
            <pc:sldMk cId="0" sldId="257"/>
            <ac:spMk id="78" creationId="{C9BDD18E-38EF-A6FE-BB7F-3C016D181C71}"/>
          </ac:spMkLst>
        </pc:spChg>
      </pc:sldChg>
      <pc:sldChg chg="addSp delSp modSp mod">
        <pc:chgData name="Fenglei Wu" userId="828226bcb4b7d480" providerId="LiveId" clId="{EEAF5C2D-A027-4356-8A1D-C45EA2232EDA}" dt="2026-04-16T22:52:26.045" v="226" actId="1076"/>
        <pc:sldMkLst>
          <pc:docMk/>
          <pc:sldMk cId="0" sldId="258"/>
        </pc:sldMkLst>
        <pc:spChg chg="mod">
          <ac:chgData name="Fenglei Wu" userId="828226bcb4b7d480" providerId="LiveId" clId="{EEAF5C2D-A027-4356-8A1D-C45EA2232EDA}" dt="2026-04-16T22:52:26.045" v="226" actId="1076"/>
          <ac:spMkLst>
            <pc:docMk/>
            <pc:sldMk cId="0" sldId="258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4:43.803" v="185"/>
          <ac:spMkLst>
            <pc:docMk/>
            <pc:sldMk cId="0" sldId="258"/>
            <ac:spMk id="10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4:58.104" v="190" actId="12"/>
          <ac:spMkLst>
            <pc:docMk/>
            <pc:sldMk cId="0" sldId="258"/>
            <ac:spMk id="11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5:32.431" v="192"/>
          <ac:spMkLst>
            <pc:docMk/>
            <pc:sldMk cId="0" sldId="258"/>
            <ac:spMk id="14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5:40.698" v="195" actId="12"/>
          <ac:spMkLst>
            <pc:docMk/>
            <pc:sldMk cId="0" sldId="258"/>
            <ac:spMk id="15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5:49.262" v="197"/>
          <ac:spMkLst>
            <pc:docMk/>
            <pc:sldMk cId="0" sldId="258"/>
            <ac:spMk id="18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5:59.847" v="200" actId="12"/>
          <ac:spMkLst>
            <pc:docMk/>
            <pc:sldMk cId="0" sldId="258"/>
            <ac:spMk id="19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6:07.459" v="202"/>
          <ac:spMkLst>
            <pc:docMk/>
            <pc:sldMk cId="0" sldId="258"/>
            <ac:spMk id="23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6:18.304" v="206" actId="14100"/>
          <ac:spMkLst>
            <pc:docMk/>
            <pc:sldMk cId="0" sldId="258"/>
            <ac:spMk id="26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6:37.355" v="211" actId="1076"/>
          <ac:spMkLst>
            <pc:docMk/>
            <pc:sldMk cId="0" sldId="258"/>
            <ac:spMk id="28" creationId="{00000000-0000-0000-0000-000000000000}"/>
          </ac:spMkLst>
        </pc:spChg>
        <pc:spChg chg="mod">
          <ac:chgData name="Fenglei Wu" userId="828226bcb4b7d480" providerId="LiveId" clId="{EEAF5C2D-A027-4356-8A1D-C45EA2232EDA}" dt="2026-04-16T22:46:40.994" v="212" actId="1076"/>
          <ac:spMkLst>
            <pc:docMk/>
            <pc:sldMk cId="0" sldId="258"/>
            <ac:spMk id="30" creationId="{00000000-0000-0000-0000-000000000000}"/>
          </ac:spMkLst>
        </pc:spChg>
      </pc:sldChg>
      <pc:sldChg chg="modSp mod">
        <pc:chgData name="Fenglei Wu" userId="828226bcb4b7d480" providerId="LiveId" clId="{EEAF5C2D-A027-4356-8A1D-C45EA2232EDA}" dt="2026-04-17T16:38:10.790" v="242" actId="20577"/>
        <pc:sldMkLst>
          <pc:docMk/>
          <pc:sldMk cId="0" sldId="260"/>
        </pc:sldMkLst>
        <pc:spChg chg="mod">
          <ac:chgData name="Fenglei Wu" userId="828226bcb4b7d480" providerId="LiveId" clId="{EEAF5C2D-A027-4356-8A1D-C45EA2232EDA}" dt="2026-04-17T16:37:37.111" v="231"/>
          <ac:spMkLst>
            <pc:docMk/>
            <pc:sldMk cId="0" sldId="260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7T16:38:10.790" v="242" actId="20577"/>
          <ac:spMkLst>
            <pc:docMk/>
            <pc:sldMk cId="0" sldId="260"/>
            <ac:spMk id="5" creationId="{00000000-0000-0000-0000-000000000000}"/>
          </ac:spMkLst>
        </pc:spChg>
      </pc:sldChg>
      <pc:sldChg chg="addSp delSp modSp mod">
        <pc:chgData name="Fenglei Wu" userId="828226bcb4b7d480" providerId="LiveId" clId="{EEAF5C2D-A027-4356-8A1D-C45EA2232EDA}" dt="2026-04-16T06:28:26.121" v="67" actId="1076"/>
        <pc:sldMkLst>
          <pc:docMk/>
          <pc:sldMk cId="0" sldId="261"/>
        </pc:sldMkLst>
        <pc:spChg chg="mod">
          <ac:chgData name="Fenglei Wu" userId="828226bcb4b7d480" providerId="LiveId" clId="{EEAF5C2D-A027-4356-8A1D-C45EA2232EDA}" dt="2026-04-16T06:28:26.121" v="67" actId="1076"/>
          <ac:spMkLst>
            <pc:docMk/>
            <pc:sldMk cId="0" sldId="261"/>
            <ac:spMk id="17" creationId="{00000000-0000-0000-0000-000000000000}"/>
          </ac:spMkLst>
        </pc:spChg>
        <pc:spChg chg="mod">
          <ac:chgData name="Fenglei Wu" userId="828226bcb4b7d480" providerId="LiveId" clId="{EEAF5C2D-A027-4356-8A1D-C45EA2232EDA}" dt="2026-04-16T06:28:16.772" v="65" actId="1076"/>
          <ac:spMkLst>
            <pc:docMk/>
            <pc:sldMk cId="0" sldId="261"/>
            <ac:spMk id="18" creationId="{00000000-0000-0000-0000-000000000000}"/>
          </ac:spMkLst>
        </pc:spChg>
        <pc:spChg chg="add mod">
          <ac:chgData name="Fenglei Wu" userId="828226bcb4b7d480" providerId="LiveId" clId="{EEAF5C2D-A027-4356-8A1D-C45EA2232EDA}" dt="2026-04-16T06:26:23.712" v="45"/>
          <ac:spMkLst>
            <pc:docMk/>
            <pc:sldMk cId="0" sldId="261"/>
            <ac:spMk id="26" creationId="{E73FDA7D-676A-2E73-14BD-AAF44046E3E5}"/>
          </ac:spMkLst>
        </pc:spChg>
      </pc:sldChg>
      <pc:sldChg chg="addSp modSp mod">
        <pc:chgData name="Fenglei Wu" userId="828226bcb4b7d480" providerId="LiveId" clId="{EEAF5C2D-A027-4356-8A1D-C45EA2232EDA}" dt="2026-04-16T06:37:46.970" v="132" actId="1076"/>
        <pc:sldMkLst>
          <pc:docMk/>
          <pc:sldMk cId="0" sldId="262"/>
        </pc:sldMkLst>
        <pc:spChg chg="mod">
          <ac:chgData name="Fenglei Wu" userId="828226bcb4b7d480" providerId="LiveId" clId="{EEAF5C2D-A027-4356-8A1D-C45EA2232EDA}" dt="2026-04-16T06:27:33.135" v="55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2:45.928" v="93" actId="14100"/>
          <ac:spMkLst>
            <pc:docMk/>
            <pc:sldMk cId="0" sldId="262"/>
            <ac:spMk id="4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7:27.169" v="123"/>
          <ac:spMkLst>
            <pc:docMk/>
            <pc:sldMk cId="0" sldId="262"/>
            <ac:spMk id="7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1:30.218" v="80" actId="20577"/>
          <ac:spMkLst>
            <pc:docMk/>
            <pc:sldMk cId="0" sldId="262"/>
            <ac:spMk id="9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2:48.418" v="94" actId="14100"/>
          <ac:spMkLst>
            <pc:docMk/>
            <pc:sldMk cId="0" sldId="262"/>
            <ac:spMk id="12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7:31.396" v="125"/>
          <ac:spMkLst>
            <pc:docMk/>
            <pc:sldMk cId="0" sldId="262"/>
            <ac:spMk id="15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1:45.324" v="86" actId="20577"/>
          <ac:spMkLst>
            <pc:docMk/>
            <pc:sldMk cId="0" sldId="262"/>
            <ac:spMk id="17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6:19.003" v="119"/>
          <ac:spMkLst>
            <pc:docMk/>
            <pc:sldMk cId="0" sldId="262"/>
            <ac:spMk id="19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2:50.619" v="95" actId="14100"/>
          <ac:spMkLst>
            <pc:docMk/>
            <pc:sldMk cId="0" sldId="262"/>
            <ac:spMk id="20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7:46.970" v="132" actId="1076"/>
          <ac:spMkLst>
            <pc:docMk/>
            <pc:sldMk cId="0" sldId="262"/>
            <ac:spMk id="23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1:53.997" v="92" actId="20577"/>
          <ac:spMkLst>
            <pc:docMk/>
            <pc:sldMk cId="0" sldId="262"/>
            <ac:spMk id="25" creationId="{00000000-0000-0000-0000-000000000000}"/>
          </ac:spMkLst>
        </pc:spChg>
        <pc:spChg chg="mod">
          <ac:chgData name="Fenglei Wu" userId="828226bcb4b7d480" providerId="LiveId" clId="{EEAF5C2D-A027-4356-8A1D-C45EA2232EDA}" dt="2026-04-16T06:36:36.086" v="120"/>
          <ac:spMkLst>
            <pc:docMk/>
            <pc:sldMk cId="0" sldId="262"/>
            <ac:spMk id="27" creationId="{00000000-0000-0000-0000-000000000000}"/>
          </ac:spMkLst>
        </pc:spChg>
        <pc:spChg chg="add mod">
          <ac:chgData name="Fenglei Wu" userId="828226bcb4b7d480" providerId="LiveId" clId="{EEAF5C2D-A027-4356-8A1D-C45EA2232EDA}" dt="2026-04-16T06:37:09.685" v="121"/>
          <ac:spMkLst>
            <pc:docMk/>
            <pc:sldMk cId="0" sldId="262"/>
            <ac:spMk id="29" creationId="{ED180BDD-0FB0-C4C2-77F9-E978E37A9F4A}"/>
          </ac:spMkLst>
        </pc:spChg>
        <pc:picChg chg="mod">
          <ac:chgData name="Fenglei Wu" userId="828226bcb4b7d480" providerId="LiveId" clId="{EEAF5C2D-A027-4356-8A1D-C45EA2232EDA}" dt="2026-04-16T06:37:44.184" v="131" actId="1076"/>
          <ac:picMkLst>
            <pc:docMk/>
            <pc:sldMk cId="0" sldId="262"/>
            <ac:picMk id="22" creationId="{00000000-0000-0000-0000-000000000000}"/>
          </ac:picMkLst>
        </pc:picChg>
      </pc:sldChg>
      <pc:sldChg chg="delSp modSp mod setBg">
        <pc:chgData name="Fenglei Wu" userId="828226bcb4b7d480" providerId="LiveId" clId="{EEAF5C2D-A027-4356-8A1D-C45EA2232EDA}" dt="2026-04-17T17:12:32.974" v="274" actId="403"/>
        <pc:sldMkLst>
          <pc:docMk/>
          <pc:sldMk cId="0" sldId="263"/>
        </pc:sldMkLst>
        <pc:spChg chg="del">
          <ac:chgData name="Fenglei Wu" userId="828226bcb4b7d480" providerId="LiveId" clId="{EEAF5C2D-A027-4356-8A1D-C45EA2232EDA}" dt="2026-04-17T16:58:06.121" v="243" actId="478"/>
          <ac:spMkLst>
            <pc:docMk/>
            <pc:sldMk cId="0" sldId="263"/>
            <ac:spMk id="2" creationId="{00000000-0000-0000-0000-000000000000}"/>
          </ac:spMkLst>
        </pc:spChg>
        <pc:spChg chg="mod">
          <ac:chgData name="Fenglei Wu" userId="828226bcb4b7d480" providerId="LiveId" clId="{EEAF5C2D-A027-4356-8A1D-C45EA2232EDA}" dt="2026-04-17T17:12:32.974" v="274" actId="403"/>
          <ac:spMkLst>
            <pc:docMk/>
            <pc:sldMk cId="0" sldId="263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7T17:05:05.574" v="264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Fenglei Wu" userId="828226bcb4b7d480" providerId="LiveId" clId="{EEAF5C2D-A027-4356-8A1D-C45EA2232EDA}" dt="2026-04-17T17:11:27.276" v="266" actId="1076"/>
          <ac:spMkLst>
            <pc:docMk/>
            <pc:sldMk cId="0" sldId="263"/>
            <ac:spMk id="33" creationId="{00000000-0000-0000-0000-000000000000}"/>
          </ac:spMkLst>
        </pc:spChg>
      </pc:sldChg>
      <pc:sldChg chg="addSp delSp modSp mod setBg">
        <pc:chgData name="Fenglei Wu" userId="828226bcb4b7d480" providerId="LiveId" clId="{EEAF5C2D-A027-4356-8A1D-C45EA2232EDA}" dt="2026-04-17T17:31:01.693" v="363"/>
        <pc:sldMkLst>
          <pc:docMk/>
          <pc:sldMk cId="0" sldId="264"/>
        </pc:sldMkLst>
        <pc:spChg chg="del">
          <ac:chgData name="Fenglei Wu" userId="828226bcb4b7d480" providerId="LiveId" clId="{EEAF5C2D-A027-4356-8A1D-C45EA2232EDA}" dt="2026-04-17T17:14:41.036" v="275" actId="478"/>
          <ac:spMkLst>
            <pc:docMk/>
            <pc:sldMk cId="0" sldId="264"/>
            <ac:spMk id="2" creationId="{00000000-0000-0000-0000-000000000000}"/>
          </ac:spMkLst>
        </pc:spChg>
        <pc:spChg chg="mod">
          <ac:chgData name="Fenglei Wu" userId="828226bcb4b7d480" providerId="LiveId" clId="{EEAF5C2D-A027-4356-8A1D-C45EA2232EDA}" dt="2026-04-17T17:14:58.905" v="277" actId="20577"/>
          <ac:spMkLst>
            <pc:docMk/>
            <pc:sldMk cId="0" sldId="264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7T17:29:50.011" v="350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englei Wu" userId="828226bcb4b7d480" providerId="LiveId" clId="{EEAF5C2D-A027-4356-8A1D-C45EA2232EDA}" dt="2026-04-17T17:31:01.693" v="36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Fenglei Wu" userId="828226bcb4b7d480" providerId="LiveId" clId="{EEAF5C2D-A027-4356-8A1D-C45EA2232EDA}" dt="2026-04-17T17:30:56.795" v="361"/>
          <ac:spMkLst>
            <pc:docMk/>
            <pc:sldMk cId="0" sldId="264"/>
            <ac:spMk id="18" creationId="{00000000-0000-0000-0000-000000000000}"/>
          </ac:spMkLst>
        </pc:spChg>
        <pc:spChg chg="mod">
          <ac:chgData name="Fenglei Wu" userId="828226bcb4b7d480" providerId="LiveId" clId="{EEAF5C2D-A027-4356-8A1D-C45EA2232EDA}" dt="2026-04-17T17:30:50.047" v="359"/>
          <ac:spMkLst>
            <pc:docMk/>
            <pc:sldMk cId="0" sldId="264"/>
            <ac:spMk id="24" creationId="{00000000-0000-0000-0000-000000000000}"/>
          </ac:spMkLst>
        </pc:spChg>
        <pc:spChg chg="add">
          <ac:chgData name="Fenglei Wu" userId="828226bcb4b7d480" providerId="LiveId" clId="{EEAF5C2D-A027-4356-8A1D-C45EA2232EDA}" dt="2026-04-17T17:29:11.018" v="292"/>
          <ac:spMkLst>
            <pc:docMk/>
            <pc:sldMk cId="0" sldId="264"/>
            <ac:spMk id="27" creationId="{8BF90FCF-D96B-86D9-3360-AF697D52BC44}"/>
          </ac:spMkLst>
        </pc:spChg>
        <pc:spChg chg="add">
          <ac:chgData name="Fenglei Wu" userId="828226bcb4b7d480" providerId="LiveId" clId="{EEAF5C2D-A027-4356-8A1D-C45EA2232EDA}" dt="2026-04-17T17:29:19.947" v="294"/>
          <ac:spMkLst>
            <pc:docMk/>
            <pc:sldMk cId="0" sldId="264"/>
            <ac:spMk id="28" creationId="{A28CF43F-11D2-16F5-0112-E525242AF2C0}"/>
          </ac:spMkLst>
        </pc:spChg>
        <pc:spChg chg="add">
          <ac:chgData name="Fenglei Wu" userId="828226bcb4b7d480" providerId="LiveId" clId="{EEAF5C2D-A027-4356-8A1D-C45EA2232EDA}" dt="2026-04-17T17:29:24.419" v="296"/>
          <ac:spMkLst>
            <pc:docMk/>
            <pc:sldMk cId="0" sldId="264"/>
            <ac:spMk id="29" creationId="{7F402623-E698-95CD-A3C0-D0CE0F570AEE}"/>
          </ac:spMkLst>
        </pc:spChg>
        <pc:spChg chg="add mod">
          <ac:chgData name="Fenglei Wu" userId="828226bcb4b7d480" providerId="LiveId" clId="{EEAF5C2D-A027-4356-8A1D-C45EA2232EDA}" dt="2026-04-17T17:30:39.490" v="357" actId="403"/>
          <ac:spMkLst>
            <pc:docMk/>
            <pc:sldMk cId="0" sldId="264"/>
            <ac:spMk id="31" creationId="{561EBCDA-DAFA-28D4-0CEE-92D0AE862B36}"/>
          </ac:spMkLst>
        </pc:spChg>
        <pc:picChg chg="mod">
          <ac:chgData name="Fenglei Wu" userId="828226bcb4b7d480" providerId="LiveId" clId="{EEAF5C2D-A027-4356-8A1D-C45EA2232EDA}" dt="2026-04-17T17:30:27.247" v="353" actId="1076"/>
          <ac:picMkLst>
            <pc:docMk/>
            <pc:sldMk cId="0" sldId="264"/>
            <ac:picMk id="7" creationId="{00000000-0000-0000-0000-000000000000}"/>
          </ac:picMkLst>
        </pc:picChg>
      </pc:sldChg>
      <pc:sldChg chg="addSp delSp modSp mod setBg">
        <pc:chgData name="Fenglei Wu" userId="828226bcb4b7d480" providerId="LiveId" clId="{EEAF5C2D-A027-4356-8A1D-C45EA2232EDA}" dt="2026-04-17T17:47:50.998" v="446" actId="20577"/>
        <pc:sldMkLst>
          <pc:docMk/>
          <pc:sldMk cId="0" sldId="265"/>
        </pc:sldMkLst>
        <pc:spChg chg="del">
          <ac:chgData name="Fenglei Wu" userId="828226bcb4b7d480" providerId="LiveId" clId="{EEAF5C2D-A027-4356-8A1D-C45EA2232EDA}" dt="2026-04-17T17:19:32.765" v="278" actId="478"/>
          <ac:spMkLst>
            <pc:docMk/>
            <pc:sldMk cId="0" sldId="265"/>
            <ac:spMk id="2" creationId="{00000000-0000-0000-0000-000000000000}"/>
          </ac:spMkLst>
        </pc:spChg>
        <pc:spChg chg="mod">
          <ac:chgData name="Fenglei Wu" userId="828226bcb4b7d480" providerId="LiveId" clId="{EEAF5C2D-A027-4356-8A1D-C45EA2232EDA}" dt="2026-04-17T17:20:04.671" v="287" actId="404"/>
          <ac:spMkLst>
            <pc:docMk/>
            <pc:sldMk cId="0" sldId="265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7T17:47:02.245" v="437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Fenglei Wu" userId="828226bcb4b7d480" providerId="LiveId" clId="{EEAF5C2D-A027-4356-8A1D-C45EA2232EDA}" dt="2026-04-17T17:47:02.245" v="437" actId="1076"/>
          <ac:spMkLst>
            <pc:docMk/>
            <pc:sldMk cId="0" sldId="265"/>
            <ac:spMk id="5" creationId="{00000000-0000-0000-0000-000000000000}"/>
          </ac:spMkLst>
        </pc:spChg>
        <pc:spChg chg="mod">
          <ac:chgData name="Fenglei Wu" userId="828226bcb4b7d480" providerId="LiveId" clId="{EEAF5C2D-A027-4356-8A1D-C45EA2232EDA}" dt="2026-04-17T17:47:02.245" v="437" actId="1076"/>
          <ac:spMkLst>
            <pc:docMk/>
            <pc:sldMk cId="0" sldId="265"/>
            <ac:spMk id="6" creationId="{00000000-0000-0000-0000-000000000000}"/>
          </ac:spMkLst>
        </pc:spChg>
        <pc:spChg chg="mod">
          <ac:chgData name="Fenglei Wu" userId="828226bcb4b7d480" providerId="LiveId" clId="{EEAF5C2D-A027-4356-8A1D-C45EA2232EDA}" dt="2026-04-17T17:47:02.245" v="437" actId="1076"/>
          <ac:spMkLst>
            <pc:docMk/>
            <pc:sldMk cId="0" sldId="265"/>
            <ac:spMk id="7" creationId="{00000000-0000-0000-0000-000000000000}"/>
          </ac:spMkLst>
        </pc:spChg>
        <pc:spChg chg="mod">
          <ac:chgData name="Fenglei Wu" userId="828226bcb4b7d480" providerId="LiveId" clId="{EEAF5C2D-A027-4356-8A1D-C45EA2232EDA}" dt="2026-04-17T17:47:02.245" v="437" actId="1076"/>
          <ac:spMkLst>
            <pc:docMk/>
            <pc:sldMk cId="0" sldId="265"/>
            <ac:spMk id="8" creationId="{00000000-0000-0000-0000-000000000000}"/>
          </ac:spMkLst>
        </pc:spChg>
        <pc:spChg chg="mod">
          <ac:chgData name="Fenglei Wu" userId="828226bcb4b7d480" providerId="LiveId" clId="{EEAF5C2D-A027-4356-8A1D-C45EA2232EDA}" dt="2026-04-17T17:47:50.998" v="446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Fenglei Wu" userId="828226bcb4b7d480" providerId="LiveId" clId="{EEAF5C2D-A027-4356-8A1D-C45EA2232EDA}" dt="2026-04-17T17:47:16.915" v="443" actId="107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Fenglei Wu" userId="828226bcb4b7d480" providerId="LiveId" clId="{EEAF5C2D-A027-4356-8A1D-C45EA2232EDA}" dt="2026-04-17T17:47:16.915" v="443" actId="1076"/>
          <ac:spMkLst>
            <pc:docMk/>
            <pc:sldMk cId="0" sldId="265"/>
            <ac:spMk id="11" creationId="{00000000-0000-0000-0000-000000000000}"/>
          </ac:spMkLst>
        </pc:spChg>
        <pc:spChg chg="del mod">
          <ac:chgData name="Fenglei Wu" userId="828226bcb4b7d480" providerId="LiveId" clId="{EEAF5C2D-A027-4356-8A1D-C45EA2232EDA}" dt="2026-04-17T17:46:50.499" v="435" actId="478"/>
          <ac:spMkLst>
            <pc:docMk/>
            <pc:sldMk cId="0" sldId="265"/>
            <ac:spMk id="13" creationId="{00000000-0000-0000-0000-000000000000}"/>
          </ac:spMkLst>
        </pc:spChg>
        <pc:spChg chg="del mod">
          <ac:chgData name="Fenglei Wu" userId="828226bcb4b7d480" providerId="LiveId" clId="{EEAF5C2D-A027-4356-8A1D-C45EA2232EDA}" dt="2026-04-17T17:46:52.702" v="436" actId="478"/>
          <ac:spMkLst>
            <pc:docMk/>
            <pc:sldMk cId="0" sldId="265"/>
            <ac:spMk id="15" creationId="{00000000-0000-0000-0000-000000000000}"/>
          </ac:spMkLst>
        </pc:spChg>
        <pc:graphicFrameChg chg="add del mod modGraphic">
          <ac:chgData name="Fenglei Wu" userId="828226bcb4b7d480" providerId="LiveId" clId="{EEAF5C2D-A027-4356-8A1D-C45EA2232EDA}" dt="2026-04-17T17:44:54.544" v="418" actId="478"/>
          <ac:graphicFrameMkLst>
            <pc:docMk/>
            <pc:sldMk cId="0" sldId="265"/>
            <ac:graphicFrameMk id="12" creationId="{00000000-0000-0000-0000-000000000000}"/>
          </ac:graphicFrameMkLst>
        </pc:graphicFrameChg>
        <pc:graphicFrameChg chg="add mod">
          <ac:chgData name="Fenglei Wu" userId="828226bcb4b7d480" providerId="LiveId" clId="{EEAF5C2D-A027-4356-8A1D-C45EA2232EDA}" dt="2026-04-17T17:38:58.639" v="408"/>
          <ac:graphicFrameMkLst>
            <pc:docMk/>
            <pc:sldMk cId="0" sldId="265"/>
            <ac:graphicFrameMk id="16" creationId="{FD94560E-1AE4-411D-272C-904E750C7572}"/>
          </ac:graphicFrameMkLst>
        </pc:graphicFrameChg>
        <pc:picChg chg="del mod">
          <ac:chgData name="Fenglei Wu" userId="828226bcb4b7d480" providerId="LiveId" clId="{EEAF5C2D-A027-4356-8A1D-C45EA2232EDA}" dt="2026-04-17T17:46:52.702" v="436" actId="478"/>
          <ac:picMkLst>
            <pc:docMk/>
            <pc:sldMk cId="0" sldId="265"/>
            <ac:picMk id="14" creationId="{00000000-0000-0000-0000-000000000000}"/>
          </ac:picMkLst>
        </pc:picChg>
        <pc:picChg chg="add del mod">
          <ac:chgData name="Fenglei Wu" userId="828226bcb4b7d480" providerId="LiveId" clId="{EEAF5C2D-A027-4356-8A1D-C45EA2232EDA}" dt="2026-04-17T17:40:48.769" v="415" actId="478"/>
          <ac:picMkLst>
            <pc:docMk/>
            <pc:sldMk cId="0" sldId="265"/>
            <ac:picMk id="18" creationId="{10691EEE-CA80-88EA-01A4-81D21E5D4DBE}"/>
          </ac:picMkLst>
        </pc:picChg>
        <pc:picChg chg="add mod">
          <ac:chgData name="Fenglei Wu" userId="828226bcb4b7d480" providerId="LiveId" clId="{EEAF5C2D-A027-4356-8A1D-C45EA2232EDA}" dt="2026-04-17T17:47:16.915" v="443" actId="1076"/>
          <ac:picMkLst>
            <pc:docMk/>
            <pc:sldMk cId="0" sldId="265"/>
            <ac:picMk id="20" creationId="{0E839363-91D0-00AB-1958-694E7D2B8064}"/>
          </ac:picMkLst>
        </pc:picChg>
      </pc:sldChg>
      <pc:sldChg chg="addSp delSp modSp mod setBg">
        <pc:chgData name="Fenglei Wu" userId="828226bcb4b7d480" providerId="LiveId" clId="{EEAF5C2D-A027-4356-8A1D-C45EA2232EDA}" dt="2026-04-17T17:51:45.571" v="476" actId="14100"/>
        <pc:sldMkLst>
          <pc:docMk/>
          <pc:sldMk cId="0" sldId="266"/>
        </pc:sldMkLst>
        <pc:spChg chg="del">
          <ac:chgData name="Fenglei Wu" userId="828226bcb4b7d480" providerId="LiveId" clId="{EEAF5C2D-A027-4356-8A1D-C45EA2232EDA}" dt="2026-04-17T17:48:05.283" v="447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Fenglei Wu" userId="828226bcb4b7d480" providerId="LiveId" clId="{EEAF5C2D-A027-4356-8A1D-C45EA2232EDA}" dt="2026-04-17T17:48:19.652" v="449" actId="20577"/>
          <ac:spMkLst>
            <pc:docMk/>
            <pc:sldMk cId="0" sldId="266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0:58.987" v="465" actId="1076"/>
          <ac:spMkLst>
            <pc:docMk/>
            <pc:sldMk cId="0" sldId="266"/>
            <ac:spMk id="4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0:58.987" v="465" actId="1076"/>
          <ac:spMkLst>
            <pc:docMk/>
            <pc:sldMk cId="0" sldId="266"/>
            <ac:spMk id="5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0:58.987" v="465" actId="1076"/>
          <ac:spMkLst>
            <pc:docMk/>
            <pc:sldMk cId="0" sldId="266"/>
            <ac:spMk id="6" creationId="{00000000-0000-0000-0000-000000000000}"/>
          </ac:spMkLst>
        </pc:spChg>
        <pc:spChg chg="del">
          <ac:chgData name="Fenglei Wu" userId="828226bcb4b7d480" providerId="LiveId" clId="{EEAF5C2D-A027-4356-8A1D-C45EA2232EDA}" dt="2026-04-17T17:50:46.793" v="461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Fenglei Wu" userId="828226bcb4b7d480" providerId="LiveId" clId="{EEAF5C2D-A027-4356-8A1D-C45EA2232EDA}" dt="2026-04-17T17:50:44.482" v="460" actId="478"/>
          <ac:spMkLst>
            <pc:docMk/>
            <pc:sldMk cId="0" sldId="266"/>
            <ac:spMk id="8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0:58.987" v="465" actId="1076"/>
          <ac:spMkLst>
            <pc:docMk/>
            <pc:sldMk cId="0" sldId="266"/>
            <ac:spMk id="9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0:58.987" v="465" actId="1076"/>
          <ac:spMkLst>
            <pc:docMk/>
            <pc:sldMk cId="0" sldId="266"/>
            <ac:spMk id="10" creationId="{00000000-0000-0000-0000-000000000000}"/>
          </ac:spMkLst>
        </pc:spChg>
        <pc:spChg chg="del">
          <ac:chgData name="Fenglei Wu" userId="828226bcb4b7d480" providerId="LiveId" clId="{EEAF5C2D-A027-4356-8A1D-C45EA2232EDA}" dt="2026-04-17T17:49:36.404" v="450" actId="478"/>
          <ac:spMkLst>
            <pc:docMk/>
            <pc:sldMk cId="0" sldId="266"/>
            <ac:spMk id="12" creationId="{00000000-0000-0000-0000-000000000000}"/>
          </ac:spMkLst>
        </pc:spChg>
        <pc:spChg chg="del">
          <ac:chgData name="Fenglei Wu" userId="828226bcb4b7d480" providerId="LiveId" clId="{EEAF5C2D-A027-4356-8A1D-C45EA2232EDA}" dt="2026-04-17T17:49:36.404" v="450" actId="478"/>
          <ac:spMkLst>
            <pc:docMk/>
            <pc:sldMk cId="0" sldId="266"/>
            <ac:spMk id="14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1:05.979" v="467" actId="14100"/>
          <ac:spMkLst>
            <pc:docMk/>
            <pc:sldMk cId="0" sldId="266"/>
            <ac:spMk id="15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1:03.457" v="466" actId="1076"/>
          <ac:spMkLst>
            <pc:docMk/>
            <pc:sldMk cId="0" sldId="266"/>
            <ac:spMk id="16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1:45.571" v="476" actId="14100"/>
          <ac:spMkLst>
            <pc:docMk/>
            <pc:sldMk cId="0" sldId="266"/>
            <ac:spMk id="18" creationId="{00000000-0000-0000-0000-000000000000}"/>
          </ac:spMkLst>
        </pc:spChg>
        <pc:spChg chg="add">
          <ac:chgData name="Fenglei Wu" userId="828226bcb4b7d480" providerId="LiveId" clId="{EEAF5C2D-A027-4356-8A1D-C45EA2232EDA}" dt="2026-04-17T17:50:26.007" v="455"/>
          <ac:spMkLst>
            <pc:docMk/>
            <pc:sldMk cId="0" sldId="266"/>
            <ac:spMk id="19" creationId="{FECDC359-8565-5CD5-6F81-695AC0FFF95E}"/>
          </ac:spMkLst>
        </pc:spChg>
        <pc:picChg chg="del">
          <ac:chgData name="Fenglei Wu" userId="828226bcb4b7d480" providerId="LiveId" clId="{EEAF5C2D-A027-4356-8A1D-C45EA2232EDA}" dt="2026-04-17T17:49:36.404" v="450" actId="478"/>
          <ac:picMkLst>
            <pc:docMk/>
            <pc:sldMk cId="0" sldId="266"/>
            <ac:picMk id="11" creationId="{00000000-0000-0000-0000-000000000000}"/>
          </ac:picMkLst>
        </pc:picChg>
        <pc:picChg chg="del">
          <ac:chgData name="Fenglei Wu" userId="828226bcb4b7d480" providerId="LiveId" clId="{EEAF5C2D-A027-4356-8A1D-C45EA2232EDA}" dt="2026-04-17T17:49:36.404" v="450" actId="478"/>
          <ac:picMkLst>
            <pc:docMk/>
            <pc:sldMk cId="0" sldId="266"/>
            <ac:picMk id="13" creationId="{00000000-0000-0000-0000-000000000000}"/>
          </ac:picMkLst>
        </pc:picChg>
        <pc:picChg chg="del mod">
          <ac:chgData name="Fenglei Wu" userId="828226bcb4b7d480" providerId="LiveId" clId="{EEAF5C2D-A027-4356-8A1D-C45EA2232EDA}" dt="2026-04-17T17:51:21.922" v="468" actId="478"/>
          <ac:picMkLst>
            <pc:docMk/>
            <pc:sldMk cId="0" sldId="266"/>
            <ac:picMk id="17" creationId="{00000000-0000-0000-0000-000000000000}"/>
          </ac:picMkLst>
        </pc:picChg>
        <pc:picChg chg="add mod">
          <ac:chgData name="Fenglei Wu" userId="828226bcb4b7d480" providerId="LiveId" clId="{EEAF5C2D-A027-4356-8A1D-C45EA2232EDA}" dt="2026-04-17T17:51:27.712" v="472" actId="14100"/>
          <ac:picMkLst>
            <pc:docMk/>
            <pc:sldMk cId="0" sldId="266"/>
            <ac:picMk id="21" creationId="{434D4971-B306-BC38-959A-CB8B2033FE7F}"/>
          </ac:picMkLst>
        </pc:picChg>
      </pc:sldChg>
      <pc:sldChg chg="addSp delSp modSp mod setBg modNotesTx">
        <pc:chgData name="Fenglei Wu" userId="828226bcb4b7d480" providerId="LiveId" clId="{EEAF5C2D-A027-4356-8A1D-C45EA2232EDA}" dt="2026-04-18T02:29:59.764" v="687" actId="20577"/>
        <pc:sldMkLst>
          <pc:docMk/>
          <pc:sldMk cId="0" sldId="267"/>
        </pc:sldMkLst>
        <pc:spChg chg="del">
          <ac:chgData name="Fenglei Wu" userId="828226bcb4b7d480" providerId="LiveId" clId="{EEAF5C2D-A027-4356-8A1D-C45EA2232EDA}" dt="2026-04-17T17:51:58.510" v="478" actId="478"/>
          <ac:spMkLst>
            <pc:docMk/>
            <pc:sldMk cId="0" sldId="267"/>
            <ac:spMk id="2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6:28.775" v="489" actId="404"/>
          <ac:spMkLst>
            <pc:docMk/>
            <pc:sldMk cId="0" sldId="267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6:40.499" v="491"/>
          <ac:spMkLst>
            <pc:docMk/>
            <pc:sldMk cId="0" sldId="267"/>
            <ac:spMk id="5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7:03.183" v="496" actId="12"/>
          <ac:spMkLst>
            <pc:docMk/>
            <pc:sldMk cId="0" sldId="267"/>
            <ac:spMk id="6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7:16.701" v="498"/>
          <ac:spMkLst>
            <pc:docMk/>
            <pc:sldMk cId="0" sldId="267"/>
            <ac:spMk id="9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7:48.785" v="502" actId="1076"/>
          <ac:spMkLst>
            <pc:docMk/>
            <pc:sldMk cId="0" sldId="267"/>
            <ac:spMk id="14" creationId="{00000000-0000-0000-0000-000000000000}"/>
          </ac:spMkLst>
        </pc:spChg>
        <pc:spChg chg="del">
          <ac:chgData name="Fenglei Wu" userId="828226bcb4b7d480" providerId="LiveId" clId="{EEAF5C2D-A027-4356-8A1D-C45EA2232EDA}" dt="2026-04-17T17:57:42.592" v="499" actId="478"/>
          <ac:spMkLst>
            <pc:docMk/>
            <pc:sldMk cId="0" sldId="267"/>
            <ac:spMk id="15" creationId="{00000000-0000-0000-0000-000000000000}"/>
          </ac:spMkLst>
        </pc:spChg>
        <pc:spChg chg="add">
          <ac:chgData name="Fenglei Wu" userId="828226bcb4b7d480" providerId="LiveId" clId="{EEAF5C2D-A027-4356-8A1D-C45EA2232EDA}" dt="2026-04-17T17:56:51.319" v="492"/>
          <ac:spMkLst>
            <pc:docMk/>
            <pc:sldMk cId="0" sldId="267"/>
            <ac:spMk id="16" creationId="{CB6329DA-06F5-053E-0D35-EB82E4878BAB}"/>
          </ac:spMkLst>
        </pc:spChg>
      </pc:sldChg>
      <pc:sldChg chg="addSp delSp modSp mod setBg">
        <pc:chgData name="Fenglei Wu" userId="828226bcb4b7d480" providerId="LiveId" clId="{EEAF5C2D-A027-4356-8A1D-C45EA2232EDA}" dt="2026-04-18T02:25:08.848" v="684" actId="22"/>
        <pc:sldMkLst>
          <pc:docMk/>
          <pc:sldMk cId="0" sldId="268"/>
        </pc:sldMkLst>
        <pc:spChg chg="del">
          <ac:chgData name="Fenglei Wu" userId="828226bcb4b7d480" providerId="LiveId" clId="{EEAF5C2D-A027-4356-8A1D-C45EA2232EDA}" dt="2026-04-17T17:58:00.258" v="503" actId="478"/>
          <ac:spMkLst>
            <pc:docMk/>
            <pc:sldMk cId="0" sldId="268"/>
            <ac:spMk id="2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9:25.563" v="526"/>
          <ac:spMkLst>
            <pc:docMk/>
            <pc:sldMk cId="0" sldId="268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9:33.955" v="528"/>
          <ac:spMkLst>
            <pc:docMk/>
            <pc:sldMk cId="0" sldId="268"/>
            <ac:spMk id="7" creationId="{00000000-0000-0000-0000-000000000000}"/>
          </ac:spMkLst>
        </pc:spChg>
        <pc:spChg chg="mod">
          <ac:chgData name="Fenglei Wu" userId="828226bcb4b7d480" providerId="LiveId" clId="{EEAF5C2D-A027-4356-8A1D-C45EA2232EDA}" dt="2026-04-17T17:59:46.431" v="532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2:18.437" v="585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2:23.767" v="588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2:27.266" v="589"/>
          <ac:spMkLst>
            <pc:docMk/>
            <pc:sldMk cId="0" sldId="268"/>
            <ac:spMk id="17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2:33.122" v="601" actId="20577"/>
          <ac:spMkLst>
            <pc:docMk/>
            <pc:sldMk cId="0" sldId="268"/>
            <ac:spMk id="18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2:55.815" v="605" actId="20577"/>
          <ac:spMkLst>
            <pc:docMk/>
            <pc:sldMk cId="0" sldId="268"/>
            <ac:spMk id="22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2:48.828" v="604" actId="20577"/>
          <ac:spMkLst>
            <pc:docMk/>
            <pc:sldMk cId="0" sldId="268"/>
            <ac:spMk id="23" creationId="{00000000-0000-0000-0000-000000000000}"/>
          </ac:spMkLst>
        </pc:spChg>
        <pc:spChg chg="add">
          <ac:chgData name="Fenglei Wu" userId="828226bcb4b7d480" providerId="LiveId" clId="{EEAF5C2D-A027-4356-8A1D-C45EA2232EDA}" dt="2026-04-17T17:59:38.282" v="529"/>
          <ac:spMkLst>
            <pc:docMk/>
            <pc:sldMk cId="0" sldId="268"/>
            <ac:spMk id="24" creationId="{54FB1F66-6020-B3CE-3B3F-B6808383A3B6}"/>
          </ac:spMkLst>
        </pc:spChg>
        <pc:spChg chg="add">
          <ac:chgData name="Fenglei Wu" userId="828226bcb4b7d480" providerId="LiveId" clId="{EEAF5C2D-A027-4356-8A1D-C45EA2232EDA}" dt="2026-04-17T18:00:50.036" v="539"/>
          <ac:spMkLst>
            <pc:docMk/>
            <pc:sldMk cId="0" sldId="268"/>
            <ac:spMk id="25" creationId="{F8D91DCC-80C1-2C91-1029-D09F5B04EBD1}"/>
          </ac:spMkLst>
        </pc:spChg>
        <pc:spChg chg="add">
          <ac:chgData name="Fenglei Wu" userId="828226bcb4b7d480" providerId="LiveId" clId="{EEAF5C2D-A027-4356-8A1D-C45EA2232EDA}" dt="2026-04-17T18:01:01.885" v="540"/>
          <ac:spMkLst>
            <pc:docMk/>
            <pc:sldMk cId="0" sldId="268"/>
            <ac:spMk id="26" creationId="{02D12AE1-1E17-61B0-8368-FAB43E510F6D}"/>
          </ac:spMkLst>
        </pc:spChg>
        <pc:spChg chg="add">
          <ac:chgData name="Fenglei Wu" userId="828226bcb4b7d480" providerId="LiveId" clId="{EEAF5C2D-A027-4356-8A1D-C45EA2232EDA}" dt="2026-04-17T18:01:07.614" v="547"/>
          <ac:spMkLst>
            <pc:docMk/>
            <pc:sldMk cId="0" sldId="268"/>
            <ac:spMk id="27" creationId="{60E83E79-6E53-9084-E456-B78E81E95769}"/>
          </ac:spMkLst>
        </pc:spChg>
        <pc:spChg chg="add">
          <ac:chgData name="Fenglei Wu" userId="828226bcb4b7d480" providerId="LiveId" clId="{EEAF5C2D-A027-4356-8A1D-C45EA2232EDA}" dt="2026-04-17T18:01:23.984" v="550"/>
          <ac:spMkLst>
            <pc:docMk/>
            <pc:sldMk cId="0" sldId="268"/>
            <ac:spMk id="28" creationId="{9AC0745C-7C95-9556-65EA-0F31D32028E5}"/>
          </ac:spMkLst>
        </pc:spChg>
        <pc:spChg chg="add">
          <ac:chgData name="Fenglei Wu" userId="828226bcb4b7d480" providerId="LiveId" clId="{EEAF5C2D-A027-4356-8A1D-C45EA2232EDA}" dt="2026-04-17T18:01:32.978" v="560"/>
          <ac:spMkLst>
            <pc:docMk/>
            <pc:sldMk cId="0" sldId="268"/>
            <ac:spMk id="29" creationId="{89FCB968-16A7-D61C-7EEE-2DDEF3FE8B2E}"/>
          </ac:spMkLst>
        </pc:spChg>
        <pc:spChg chg="add del">
          <ac:chgData name="Fenglei Wu" userId="828226bcb4b7d480" providerId="LiveId" clId="{EEAF5C2D-A027-4356-8A1D-C45EA2232EDA}" dt="2026-04-18T02:25:08.848" v="684" actId="22"/>
          <ac:spMkLst>
            <pc:docMk/>
            <pc:sldMk cId="0" sldId="268"/>
            <ac:spMk id="31" creationId="{C3630092-C143-3AFF-4FA6-185563FF2C13}"/>
          </ac:spMkLst>
        </pc:spChg>
      </pc:sldChg>
      <pc:sldChg chg="delSp modSp mod setBg">
        <pc:chgData name="Fenglei Wu" userId="828226bcb4b7d480" providerId="LiveId" clId="{EEAF5C2D-A027-4356-8A1D-C45EA2232EDA}" dt="2026-04-17T18:05:51.773" v="651" actId="20577"/>
        <pc:sldMkLst>
          <pc:docMk/>
          <pc:sldMk cId="0" sldId="269"/>
        </pc:sldMkLst>
        <pc:spChg chg="del">
          <ac:chgData name="Fenglei Wu" userId="828226bcb4b7d480" providerId="LiveId" clId="{EEAF5C2D-A027-4356-8A1D-C45EA2232EDA}" dt="2026-04-17T18:03:07.723" v="606" actId="478"/>
          <ac:spMkLst>
            <pc:docMk/>
            <pc:sldMk cId="0" sldId="269"/>
            <ac:spMk id="2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4:08.318" v="621" actId="404"/>
          <ac:spMkLst>
            <pc:docMk/>
            <pc:sldMk cId="0" sldId="269"/>
            <ac:spMk id="3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4:25.104" v="624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4:58.570" v="640" actId="20577"/>
          <ac:spMkLst>
            <pc:docMk/>
            <pc:sldMk cId="0" sldId="269"/>
            <ac:spMk id="12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5:21.753" v="646" actId="20577"/>
          <ac:spMkLst>
            <pc:docMk/>
            <pc:sldMk cId="0" sldId="269"/>
            <ac:spMk id="13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5:09.273" v="643" actId="20577"/>
          <ac:spMkLst>
            <pc:docMk/>
            <pc:sldMk cId="0" sldId="269"/>
            <ac:spMk id="18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5:42.311" v="648" actId="1076"/>
          <ac:spMkLst>
            <pc:docMk/>
            <pc:sldMk cId="0" sldId="269"/>
            <ac:spMk id="19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5:51.773" v="651" actId="20577"/>
          <ac:spMkLst>
            <pc:docMk/>
            <pc:sldMk cId="0" sldId="269"/>
            <ac:spMk id="23" creationId="{00000000-0000-0000-0000-000000000000}"/>
          </ac:spMkLst>
        </pc:spChg>
      </pc:sldChg>
      <pc:sldChg chg="addSp modSp mod setBg modNotes modNotesTx">
        <pc:chgData name="Fenglei Wu" userId="828226bcb4b7d480" providerId="LiveId" clId="{EEAF5C2D-A027-4356-8A1D-C45EA2232EDA}" dt="2026-04-18T05:19:00.889" v="695" actId="20577"/>
        <pc:sldMkLst>
          <pc:docMk/>
          <pc:sldMk cId="0" sldId="270"/>
        </pc:sldMkLst>
        <pc:spChg chg="mod">
          <ac:chgData name="Fenglei Wu" userId="828226bcb4b7d480" providerId="LiveId" clId="{EEAF5C2D-A027-4356-8A1D-C45EA2232EDA}" dt="2026-04-17T18:09:12.424" v="659" actId="404"/>
          <ac:spMkLst>
            <pc:docMk/>
            <pc:sldMk cId="0" sldId="270"/>
            <ac:spMk id="2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9:30.194" v="661"/>
          <ac:spMkLst>
            <pc:docMk/>
            <pc:sldMk cId="0" sldId="270"/>
            <ac:spMk id="6" creationId="{00000000-0000-0000-0000-000000000000}"/>
          </ac:spMkLst>
        </pc:spChg>
        <pc:spChg chg="mod">
          <ac:chgData name="Fenglei Wu" userId="828226bcb4b7d480" providerId="LiveId" clId="{EEAF5C2D-A027-4356-8A1D-C45EA2232EDA}" dt="2026-04-17T18:09:43.459" v="665" actId="20577"/>
          <ac:spMkLst>
            <pc:docMk/>
            <pc:sldMk cId="0" sldId="270"/>
            <ac:spMk id="7" creationId="{00000000-0000-0000-0000-000000000000}"/>
          </ac:spMkLst>
        </pc:spChg>
        <pc:spChg chg="mod">
          <ac:chgData name="Fenglei Wu" userId="828226bcb4b7d480" providerId="LiveId" clId="{EEAF5C2D-A027-4356-8A1D-C45EA2232EDA}" dt="2026-04-17T18:24:16.074" v="676"/>
          <ac:spMkLst>
            <pc:docMk/>
            <pc:sldMk cId="0" sldId="270"/>
            <ac:spMk id="11" creationId="{00000000-0000-0000-0000-000000000000}"/>
          </ac:spMkLst>
        </pc:spChg>
        <pc:spChg chg="mod">
          <ac:chgData name="Fenglei Wu" userId="828226bcb4b7d480" providerId="LiveId" clId="{EEAF5C2D-A027-4356-8A1D-C45EA2232EDA}" dt="2026-04-17T18:23:22.463" v="670" actId="20577"/>
          <ac:spMkLst>
            <pc:docMk/>
            <pc:sldMk cId="0" sldId="270"/>
            <ac:spMk id="12" creationId="{00000000-0000-0000-0000-000000000000}"/>
          </ac:spMkLst>
        </pc:spChg>
        <pc:spChg chg="mod">
          <ac:chgData name="Fenglei Wu" userId="828226bcb4b7d480" providerId="LiveId" clId="{EEAF5C2D-A027-4356-8A1D-C45EA2232EDA}" dt="2026-04-17T18:24:20.903" v="678"/>
          <ac:spMkLst>
            <pc:docMk/>
            <pc:sldMk cId="0" sldId="270"/>
            <ac:spMk id="16" creationId="{00000000-0000-0000-0000-000000000000}"/>
          </ac:spMkLst>
        </pc:spChg>
        <pc:spChg chg="mod">
          <ac:chgData name="Fenglei Wu" userId="828226bcb4b7d480" providerId="LiveId" clId="{EEAF5C2D-A027-4356-8A1D-C45EA2232EDA}" dt="2026-04-17T18:23:47.770" v="674" actId="20577"/>
          <ac:spMkLst>
            <pc:docMk/>
            <pc:sldMk cId="0" sldId="270"/>
            <ac:spMk id="17" creationId="{00000000-0000-0000-0000-000000000000}"/>
          </ac:spMkLst>
        </pc:spChg>
        <pc:spChg chg="mod">
          <ac:chgData name="Fenglei Wu" userId="828226bcb4b7d480" providerId="LiveId" clId="{EEAF5C2D-A027-4356-8A1D-C45EA2232EDA}" dt="2026-04-17T18:24:38.739" v="682" actId="20577"/>
          <ac:spMkLst>
            <pc:docMk/>
            <pc:sldMk cId="0" sldId="270"/>
            <ac:spMk id="22" creationId="{00000000-0000-0000-0000-000000000000}"/>
          </ac:spMkLst>
        </pc:spChg>
        <pc:spChg chg="add">
          <ac:chgData name="Fenglei Wu" userId="828226bcb4b7d480" providerId="LiveId" clId="{EEAF5C2D-A027-4356-8A1D-C45EA2232EDA}" dt="2026-04-17T18:09:33.745" v="662"/>
          <ac:spMkLst>
            <pc:docMk/>
            <pc:sldMk cId="0" sldId="270"/>
            <ac:spMk id="25" creationId="{6A83D889-98DD-B159-7BB9-448DAA237D0B}"/>
          </ac:spMkLst>
        </pc:spChg>
      </pc:sldChg>
      <pc:sldChg chg="delSp mod modNotesTx">
        <pc:chgData name="Fenglei Wu" userId="828226bcb4b7d480" providerId="LiveId" clId="{EEAF5C2D-A027-4356-8A1D-C45EA2232EDA}" dt="2026-04-18T02:59:30.407" v="693" actId="20577"/>
        <pc:sldMkLst>
          <pc:docMk/>
          <pc:sldMk cId="0" sldId="271"/>
        </pc:sldMkLst>
        <pc:spChg chg="del">
          <ac:chgData name="Fenglei Wu" userId="828226bcb4b7d480" providerId="LiveId" clId="{EEAF5C2D-A027-4356-8A1D-C45EA2232EDA}" dt="2026-04-18T02:32:12.836" v="689" actId="478"/>
          <ac:spMkLst>
            <pc:docMk/>
            <pc:sldMk cId="0" sldId="271"/>
            <ac:spMk id="2" creationId="{00000000-0000-0000-0000-000000000000}"/>
          </ac:spMkLst>
        </pc:spChg>
        <pc:picChg chg="del">
          <ac:chgData name="Fenglei Wu" userId="828226bcb4b7d480" providerId="LiveId" clId="{EEAF5C2D-A027-4356-8A1D-C45EA2232EDA}" dt="2026-04-18T02:32:17.938" v="690" actId="478"/>
          <ac:picMkLst>
            <pc:docMk/>
            <pc:sldMk cId="0" sldId="271"/>
            <ac:picMk id="7" creationId="{00000000-0000-0000-0000-000000000000}"/>
          </ac:picMkLst>
        </pc:picChg>
      </pc:sldChg>
      <pc:sldChg chg="modSp mod modNotesTx">
        <pc:chgData name="Fenglei Wu" userId="828226bcb4b7d480" providerId="LiveId" clId="{EEAF5C2D-A027-4356-8A1D-C45EA2232EDA}" dt="2026-04-17T16:31:08.643" v="230" actId="20577"/>
        <pc:sldMkLst>
          <pc:docMk/>
          <pc:sldMk cId="2606797599" sldId="272"/>
        </pc:sldMkLst>
        <pc:spChg chg="mod">
          <ac:chgData name="Fenglei Wu" userId="828226bcb4b7d480" providerId="LiveId" clId="{EEAF5C2D-A027-4356-8A1D-C45EA2232EDA}" dt="2026-04-16T22:52:31.099" v="229" actId="20577"/>
          <ac:spMkLst>
            <pc:docMk/>
            <pc:sldMk cId="2606797599" sldId="272"/>
            <ac:spMk id="3" creationId="{F98C9D2A-7EFB-085F-41EB-A5DB6F7B82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“Hello everyone, today I will present my project on volatility forecasting using GARCH-family models, with a focus on risk management applications.”</a:t>
            </a:r>
          </a:p>
          <a:p>
            <a:r>
              <a:rPr lang="en-US" dirty="0"/>
              <a:t>“The goal is to evaluate whether more complex models improve forecasting, and whether these forecasts can be used to produce reliable risk measures.”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“This slide shows the overall workflow of the project.”</a:t>
            </a:r>
          </a:p>
          <a:p>
            <a:r>
              <a:rPr lang="en-US" dirty="0"/>
              <a:t>“We start from data and stylized facts to motivate the use of GARCH models.”</a:t>
            </a:r>
          </a:p>
          <a:p>
            <a:r>
              <a:rPr lang="en-US" dirty="0"/>
              <a:t>“Then we estimate different GARCH-family models.”</a:t>
            </a:r>
          </a:p>
          <a:p>
            <a:r>
              <a:rPr lang="en-US" dirty="0"/>
              <a:t>“Next, we evaluate their out-of-sample forecasting performance.”</a:t>
            </a:r>
          </a:p>
          <a:p>
            <a:r>
              <a:rPr lang="en-US" dirty="0"/>
              <a:t>“Finally, we apply the best model to risk measurement and validate it through </a:t>
            </a:r>
            <a:r>
              <a:rPr lang="en-US" dirty="0" err="1"/>
              <a:t>backtesting</a:t>
            </a:r>
            <a:r>
              <a:rPr lang="en-US" dirty="0"/>
              <a:t>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“Before building the model, we first look at key characteristics of financial data.”</a:t>
            </a:r>
          </a:p>
          <a:p>
            <a:r>
              <a:rPr lang="en-US" dirty="0"/>
              <a:t>“Volatility is time-varying and exhibits clustering.”</a:t>
            </a:r>
          </a:p>
          <a:p>
            <a:r>
              <a:rPr lang="en-US" dirty="0"/>
              <a:t>“This suggests that while returns are unpredictable, volatility itself is predictable.”</a:t>
            </a:r>
          </a:p>
          <a:p>
            <a:r>
              <a:rPr lang="en-US" dirty="0"/>
              <a:t>“This motivates the use of GARCH-type models.”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CF60B-9C82-0983-362E-54E800D97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CC98BE9-CAA9-FF85-AA7A-E62E7F1939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BE9FC-80A6-1C82-550A-392E6777FAC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8AC61B7-B3B1-6F35-30D3-C876C07043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08082501-B9C3-E637-7654-95486F869C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“We use three major US equity ETFs: SPY, QQQ, and DIA.”</a:t>
            </a:r>
          </a:p>
          <a:p>
            <a:r>
              <a:rPr lang="en-US" dirty="0"/>
              <a:t>“The sample spans from 2015 to 2025, covering different market conditions.”</a:t>
            </a:r>
          </a:p>
          <a:p>
            <a:r>
              <a:rPr lang="en-US" dirty="0"/>
              <a:t>“Returns are computed as log returns.”</a:t>
            </a:r>
          </a:p>
          <a:p>
            <a:r>
              <a:rPr lang="en-US" dirty="0"/>
              <a:t>“We use 21-day rolling variance as a proxy for realized volatility.”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725523-2BB3-3B89-1706-BEA38795DD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726FCE-B1D0-8D2B-B012-D51AB23DB1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0379200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“Here we visualize volatility clustering using squared returns.”</a:t>
            </a:r>
          </a:p>
          <a:p>
            <a:r>
              <a:rPr lang="en-US" dirty="0"/>
              <a:t>“We observe that large movements tend to cluster together.”</a:t>
            </a:r>
          </a:p>
          <a:p>
            <a:r>
              <a:rPr lang="en-US" dirty="0"/>
              <a:t>“For example, during the COVID period, volatility spikes significantly.”</a:t>
            </a:r>
          </a:p>
          <a:p>
            <a:r>
              <a:rPr lang="en-US" dirty="0"/>
              <a:t>“This confirms that volatility is persistent and time-varying.”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“Returns are clearly non-normal, with skewness and fat tails.”</a:t>
            </a:r>
          </a:p>
          <a:p>
            <a:r>
              <a:rPr lang="en-US" dirty="0"/>
              <a:t>“We also observe strong ARCH effects, indicating volatility persistence.”</a:t>
            </a:r>
          </a:p>
          <a:p>
            <a:r>
              <a:rPr lang="en-US" dirty="0"/>
              <a:t>“These results justify modeling conditional volatility using GARCH models.”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“We consider three models.”</a:t>
            </a:r>
          </a:p>
          <a:p>
            <a:r>
              <a:rPr lang="en-US" dirty="0"/>
              <a:t>“GARCH(1,1) as the baseline.”</a:t>
            </a:r>
          </a:p>
          <a:p>
            <a:r>
              <a:rPr lang="en-US" dirty="0"/>
              <a:t>“EGARCH and GJR-GARCH to capture asymmetry, where negative shocks have a larger impact.”</a:t>
            </a:r>
          </a:p>
          <a:p>
            <a:r>
              <a:rPr lang="en-US" dirty="0"/>
              <a:t>“The key question is whether this added complexity improves forecasting.”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“We evaluate models using an out-of-sample framework.”</a:t>
            </a:r>
          </a:p>
          <a:p>
            <a:r>
              <a:rPr lang="en-US" dirty="0"/>
              <a:t>“The data is split into training and test sets.”</a:t>
            </a:r>
          </a:p>
          <a:p>
            <a:r>
              <a:rPr lang="en-US" dirty="0"/>
              <a:t>“We use a rolling window approach to simulate real-world forecasting.”</a:t>
            </a:r>
          </a:p>
          <a:p>
            <a:r>
              <a:rPr lang="en-US" dirty="0"/>
              <a:t>“This ensures that only past information is used and avoids look-ahead bias.”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“We evaluate forecasting performance using MSE, MAE, and QLIKE.”</a:t>
            </a:r>
          </a:p>
          <a:p>
            <a:r>
              <a:rPr lang="en-US" dirty="0"/>
              <a:t>“Lower loss indicates better performance.”</a:t>
            </a:r>
          </a:p>
          <a:p>
            <a:r>
              <a:rPr lang="en-US" dirty="0"/>
              <a:t>“QLIKE is particularly important, as it penalizes volatility underestimation.”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“The key result is clear.”</a:t>
            </a:r>
          </a:p>
          <a:p>
            <a:r>
              <a:rPr lang="en-US" dirty="0"/>
              <a:t>“GARCH(1,1) consistently achieves the lowest loss across all assets and metrics.”</a:t>
            </a:r>
          </a:p>
          <a:p>
            <a:r>
              <a:rPr lang="en-US" dirty="0"/>
              <a:t>“More complex models do not improve performance and may lead to overfitting.”</a:t>
            </a:r>
          </a:p>
          <a:p>
            <a:r>
              <a:rPr lang="en-US" dirty="0"/>
              <a:t>“This suggests that robustness is more important than model complexity.”</a:t>
            </a:r>
          </a:p>
          <a:p>
            <a:r>
              <a:rPr lang="en-US" dirty="0"/>
              <a:t>“So we select GARCH(1,1) as the preferred model.”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“We now translate volatility forecasts into risk measures.”</a:t>
            </a:r>
          </a:p>
          <a:p>
            <a:r>
              <a:rPr lang="en-US" dirty="0"/>
              <a:t>“We convert the conditional volatility into Value-at-Risk.”</a:t>
            </a:r>
          </a:p>
          <a:p>
            <a:r>
              <a:rPr lang="en-US" dirty="0"/>
              <a:t>“Since volatility is time-varying, </a:t>
            </a:r>
            <a:r>
              <a:rPr lang="en-US" dirty="0" err="1"/>
              <a:t>VaR</a:t>
            </a:r>
            <a:r>
              <a:rPr lang="en-US" dirty="0"/>
              <a:t> adjusts dynamically with market conditions.”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“The key question is whether these risk estimates are reliable.”</a:t>
            </a:r>
          </a:p>
          <a:p>
            <a:r>
              <a:rPr lang="en-US" dirty="0"/>
              <a:t>“We find that the violation rates are close to expected levels.”</a:t>
            </a:r>
          </a:p>
          <a:p>
            <a:r>
              <a:rPr lang="en-US" dirty="0"/>
              <a:t>“We also apply the Kupiec test and fail to reject the null hypothesis.”</a:t>
            </a:r>
          </a:p>
          <a:p>
            <a:r>
              <a:rPr lang="en-US" dirty="0"/>
              <a:t>“This confirms that the </a:t>
            </a:r>
            <a:r>
              <a:rPr lang="en-US" dirty="0" err="1"/>
              <a:t>VaR</a:t>
            </a:r>
            <a:r>
              <a:rPr lang="en-US" dirty="0"/>
              <a:t> model is well-calibrated and statistically valid.”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“Based on these results, we draw several insights.”</a:t>
            </a:r>
          </a:p>
          <a:p>
            <a:r>
              <a:rPr lang="en-US" dirty="0"/>
              <a:t>“First, volatility models enable dynamic risk measurement.”</a:t>
            </a:r>
          </a:p>
          <a:p>
            <a:r>
              <a:rPr lang="en-US" dirty="0"/>
              <a:t>“Second, robustness matters more than model complexity.”</a:t>
            </a:r>
          </a:p>
          <a:p>
            <a:r>
              <a:rPr lang="en-US" dirty="0"/>
              <a:t>“Third, </a:t>
            </a:r>
            <a:r>
              <a:rPr lang="en-US" dirty="0" err="1"/>
              <a:t>VaR</a:t>
            </a:r>
            <a:r>
              <a:rPr lang="en-US" dirty="0"/>
              <a:t> should be complemented with Expected Shortfall.”</a:t>
            </a:r>
          </a:p>
          <a:p>
            <a:r>
              <a:rPr lang="en-US" dirty="0"/>
              <a:t>“Finally, </a:t>
            </a:r>
            <a:r>
              <a:rPr lang="en-US" dirty="0" err="1"/>
              <a:t>backtesting</a:t>
            </a:r>
            <a:r>
              <a:rPr lang="en-US" dirty="0"/>
              <a:t> is essential before using any model in practice.”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“There are several limitations.”</a:t>
            </a:r>
          </a:p>
          <a:p>
            <a:r>
              <a:rPr lang="en-US" dirty="0"/>
              <a:t>“We assume normality, which may underestimate tail risk.”</a:t>
            </a:r>
          </a:p>
          <a:p>
            <a:r>
              <a:rPr lang="en-US" dirty="0"/>
              <a:t>“We focus only on </a:t>
            </a:r>
            <a:r>
              <a:rPr lang="en-US" dirty="0" err="1"/>
              <a:t>VaR</a:t>
            </a:r>
            <a:r>
              <a:rPr lang="en-US" dirty="0"/>
              <a:t>, which does not capture loss magnitude.”</a:t>
            </a:r>
          </a:p>
          <a:p>
            <a:r>
              <a:rPr lang="en-US" dirty="0"/>
              <a:t>“GARCH assumes stable dynamics, which may fail under regime changes.”</a:t>
            </a:r>
          </a:p>
          <a:p>
            <a:r>
              <a:rPr lang="en-US" dirty="0"/>
              <a:t>“And the volatility proxy is simplified.”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r>
              <a:rPr lang="en-US" dirty="0"/>
              <a:t>“To conclude, this project builds a complete pipeline from volatility forecasting to risk validation.”</a:t>
            </a:r>
          </a:p>
          <a:p>
            <a:r>
              <a:rPr lang="en-US" dirty="0"/>
              <a:t>“GARCH(1,1) provides the best out-of-sample performance.”</a:t>
            </a:r>
          </a:p>
          <a:p>
            <a:r>
              <a:rPr lang="en-US" dirty="0"/>
              <a:t>“Its </a:t>
            </a:r>
            <a:r>
              <a:rPr lang="en-US" dirty="0" err="1"/>
              <a:t>VaR</a:t>
            </a:r>
            <a:r>
              <a:rPr lang="en-US" dirty="0"/>
              <a:t> is well-calibrated and passes </a:t>
            </a:r>
            <a:r>
              <a:rPr lang="en-US" dirty="0" err="1"/>
              <a:t>backtesting</a:t>
            </a:r>
            <a:r>
              <a:rPr lang="en-US" dirty="0"/>
              <a:t>.”</a:t>
            </a:r>
          </a:p>
          <a:p>
            <a:endParaRPr lang="en-US"/>
          </a:p>
          <a:p>
            <a:r>
              <a:rPr lang="en-US"/>
              <a:t>“</a:t>
            </a:r>
            <a:r>
              <a:rPr lang="en-US" dirty="0"/>
              <a:t>Overall, simple models can outperform complex ones while still delivering reliable risk estimates.”</a:t>
            </a:r>
          </a:p>
          <a:p>
            <a:r>
              <a:rPr lang="en-US" dirty="0"/>
              <a:t>“Robustness matters more than complexity.”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image" Target="../media/image8.jpe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sv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5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svg"/><Relationship Id="rId5" Type="http://schemas.openxmlformats.org/officeDocument/2006/relationships/image" Target="../media/image23.svg"/><Relationship Id="rId4" Type="http://schemas.openxmlformats.org/officeDocument/2006/relationships/image" Target="../media/image2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svg"/><Relationship Id="rId5" Type="http://schemas.openxmlformats.org/officeDocument/2006/relationships/image" Target="../media/image32.svg"/><Relationship Id="rId4" Type="http://schemas.openxmlformats.org/officeDocument/2006/relationships/image" Target="../media/image31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3959" y="1987176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4800" b="1" i="0" u="none" strike="noStrike" dirty="0">
                <a:solidFill>
                  <a:schemeClr val="tx1"/>
                </a:solidFill>
                <a:latin typeface="Noto Sans SC"/>
                <a:ea typeface="Noto Sans SC"/>
                <a:cs typeface="Noto Sans SC"/>
                <a:sym typeface="Noto Sans SC"/>
              </a:rPr>
              <a:t>Do More Complex GARCH Models Improve Volatility Forecasting?</a:t>
            </a:r>
          </a:p>
          <a:p>
            <a:pPr indent="0" algn="ctr">
              <a:lnSpc>
                <a:spcPct val="100000"/>
              </a:lnSpc>
              <a:defRPr/>
            </a:pPr>
            <a:r>
              <a:rPr lang="en-US" sz="3200" b="1" i="0" u="none" strike="noStrike" dirty="0">
                <a:solidFill>
                  <a:schemeClr val="tx1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24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Applications to Value-at-Risk (</a:t>
            </a:r>
            <a:r>
              <a:rPr lang="en-US" sz="2400" b="1" i="0" u="none" strike="noStrike" dirty="0" err="1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24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)</a:t>
            </a:r>
            <a:endParaRPr lang="en-US" sz="3200" b="1" i="0" u="none" strike="noStrike" dirty="0">
              <a:solidFill>
                <a:srgbClr val="666666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0" y="3429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1963272" y="4225178"/>
            <a:ext cx="2985246" cy="133947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>
              <a:lnSpc>
                <a:spcPct val="125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Noto Sans SC"/>
                <a:ea typeface="Noto Sans SC"/>
                <a:cs typeface="Noto Sans SC"/>
                <a:sym typeface="Noto Sans SC"/>
              </a:rPr>
              <a:t>Fenglei Wu  </a:t>
            </a:r>
          </a:p>
          <a:p>
            <a:pPr indent="0">
              <a:lnSpc>
                <a:spcPct val="125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Noto Sans SC"/>
                <a:ea typeface="Noto Sans SC"/>
                <a:cs typeface="Noto Sans SC"/>
                <a:sym typeface="Noto Sans SC"/>
              </a:rPr>
              <a:t>MS in Financial Engineering  Claremont Graduate University 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586753" y="5471832"/>
            <a:ext cx="1629335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 dirty="0">
                <a:solidFill>
                  <a:schemeClr val="tx1"/>
                </a:solidFill>
                <a:latin typeface="Noto Sans SC"/>
                <a:ea typeface="Noto Sans SC"/>
                <a:cs typeface="Noto Sans SC"/>
                <a:sym typeface="Noto Sans SC"/>
              </a:rPr>
              <a:t>April  2026</a:t>
            </a:r>
            <a:endParaRPr lang="en-US" sz="11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1999" y="508000"/>
            <a:ext cx="5524499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Workflow of the Analysis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384300"/>
            <a:ext cx="5333253" cy="2032000"/>
          </a:xfrm>
          <a:prstGeom prst="roundRect">
            <a:avLst>
              <a:gd name="adj" fmla="val 8888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1999" y="1397000"/>
            <a:ext cx="101599" cy="2019300"/>
          </a:xfrm>
          <a:prstGeom prst="roundRect">
            <a:avLst>
              <a:gd name="adj" fmla="val 0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06660" y="2013526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1641661" y="1792037"/>
            <a:ext cx="2994959" cy="50799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Motivation &amp; Data</a:t>
            </a:r>
            <a:endParaRPr lang="en-US" sz="1800" dirty="0"/>
          </a:p>
        </p:txBody>
      </p:sp>
      <p:sp>
        <p:nvSpPr>
          <p:cNvPr id="8" name="AutoShape 8"/>
          <p:cNvSpPr/>
          <p:nvPr/>
        </p:nvSpPr>
        <p:spPr>
          <a:xfrm>
            <a:off x="1614019" y="2201393"/>
            <a:ext cx="4357289" cy="12403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ETF data (SPY, QQQ, DIA)</a:t>
            </a: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Volatility clustering</a:t>
            </a: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Non-normality &amp; ARCH effects</a:t>
            </a:r>
            <a:endParaRPr lang="en-US" sz="1800" dirty="0"/>
          </a:p>
        </p:txBody>
      </p:sp>
      <p:sp>
        <p:nvSpPr>
          <p:cNvPr id="64" name="AutoShape 4">
            <a:extLst>
              <a:ext uri="{FF2B5EF4-FFF2-40B4-BE49-F238E27FC236}">
                <a16:creationId xmlns:a16="http://schemas.microsoft.com/office/drawing/2014/main" id="{DBDB7743-6DAC-CB4C-5EEE-D62DC3B6AA02}"/>
              </a:ext>
            </a:extLst>
          </p:cNvPr>
          <p:cNvSpPr/>
          <p:nvPr/>
        </p:nvSpPr>
        <p:spPr>
          <a:xfrm>
            <a:off x="761999" y="3689350"/>
            <a:ext cx="5333253" cy="2032000"/>
          </a:xfrm>
          <a:prstGeom prst="roundRect">
            <a:avLst>
              <a:gd name="adj" fmla="val 8888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" name="AutoShape 5">
            <a:extLst>
              <a:ext uri="{FF2B5EF4-FFF2-40B4-BE49-F238E27FC236}">
                <a16:creationId xmlns:a16="http://schemas.microsoft.com/office/drawing/2014/main" id="{448202E2-142D-9F2A-F609-0ABDADB68035}"/>
              </a:ext>
            </a:extLst>
          </p:cNvPr>
          <p:cNvSpPr/>
          <p:nvPr/>
        </p:nvSpPr>
        <p:spPr>
          <a:xfrm>
            <a:off x="761998" y="3702050"/>
            <a:ext cx="101599" cy="2019300"/>
          </a:xfrm>
          <a:prstGeom prst="roundRect">
            <a:avLst>
              <a:gd name="adj" fmla="val 0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" name="AutoShape 6">
            <a:extLst>
              <a:ext uri="{FF2B5EF4-FFF2-40B4-BE49-F238E27FC236}">
                <a16:creationId xmlns:a16="http://schemas.microsoft.com/office/drawing/2014/main" id="{9587B4E8-9F17-C70B-5F68-CCCA397634AF}"/>
              </a:ext>
            </a:extLst>
          </p:cNvPr>
          <p:cNvSpPr/>
          <p:nvPr/>
        </p:nvSpPr>
        <p:spPr>
          <a:xfrm>
            <a:off x="990598" y="427355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 dirty="0"/>
          </a:p>
        </p:txBody>
      </p:sp>
      <p:sp>
        <p:nvSpPr>
          <p:cNvPr id="67" name="AutoShape 7">
            <a:extLst>
              <a:ext uri="{FF2B5EF4-FFF2-40B4-BE49-F238E27FC236}">
                <a16:creationId xmlns:a16="http://schemas.microsoft.com/office/drawing/2014/main" id="{74A362E0-2015-D4A3-7344-2D744B3EDDDE}"/>
              </a:ext>
            </a:extLst>
          </p:cNvPr>
          <p:cNvSpPr/>
          <p:nvPr/>
        </p:nvSpPr>
        <p:spPr>
          <a:xfrm>
            <a:off x="1614018" y="4117040"/>
            <a:ext cx="2994959" cy="50799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Forecast Evaluation</a:t>
            </a:r>
            <a:endParaRPr lang="en-US" sz="1800" dirty="0"/>
          </a:p>
        </p:txBody>
      </p:sp>
      <p:sp>
        <p:nvSpPr>
          <p:cNvPr id="68" name="AutoShape 8">
            <a:extLst>
              <a:ext uri="{FF2B5EF4-FFF2-40B4-BE49-F238E27FC236}">
                <a16:creationId xmlns:a16="http://schemas.microsoft.com/office/drawing/2014/main" id="{605AAAE4-1B1C-4F4F-B094-3D485C459CBC}"/>
              </a:ext>
            </a:extLst>
          </p:cNvPr>
          <p:cNvSpPr/>
          <p:nvPr/>
        </p:nvSpPr>
        <p:spPr>
          <a:xfrm>
            <a:off x="1614018" y="4506443"/>
            <a:ext cx="4243295" cy="97379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Out-of-sample testing</a:t>
            </a: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Loss functions (MSE, MAE, QLIKE)</a:t>
            </a:r>
            <a:endParaRPr lang="en-US" sz="1800" dirty="0"/>
          </a:p>
        </p:txBody>
      </p:sp>
      <p:sp>
        <p:nvSpPr>
          <p:cNvPr id="69" name="AutoShape 4">
            <a:extLst>
              <a:ext uri="{FF2B5EF4-FFF2-40B4-BE49-F238E27FC236}">
                <a16:creationId xmlns:a16="http://schemas.microsoft.com/office/drawing/2014/main" id="{D6303A86-000F-633A-C88B-3001CA01B173}"/>
              </a:ext>
            </a:extLst>
          </p:cNvPr>
          <p:cNvSpPr/>
          <p:nvPr/>
        </p:nvSpPr>
        <p:spPr>
          <a:xfrm>
            <a:off x="6286501" y="1397000"/>
            <a:ext cx="5333253" cy="2032000"/>
          </a:xfrm>
          <a:prstGeom prst="roundRect">
            <a:avLst>
              <a:gd name="adj" fmla="val 8888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70" name="AutoShape 5">
            <a:extLst>
              <a:ext uri="{FF2B5EF4-FFF2-40B4-BE49-F238E27FC236}">
                <a16:creationId xmlns:a16="http://schemas.microsoft.com/office/drawing/2014/main" id="{F57186CC-C95F-B6F9-21ED-3D62EFD78722}"/>
              </a:ext>
            </a:extLst>
          </p:cNvPr>
          <p:cNvSpPr/>
          <p:nvPr/>
        </p:nvSpPr>
        <p:spPr>
          <a:xfrm>
            <a:off x="6286500" y="1409700"/>
            <a:ext cx="101599" cy="2019300"/>
          </a:xfrm>
          <a:prstGeom prst="roundRect">
            <a:avLst>
              <a:gd name="adj" fmla="val 0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" name="AutoShape 6">
            <a:extLst>
              <a:ext uri="{FF2B5EF4-FFF2-40B4-BE49-F238E27FC236}">
                <a16:creationId xmlns:a16="http://schemas.microsoft.com/office/drawing/2014/main" id="{12E83AF3-8600-3CDA-CE14-FCF2C1C01ADC}"/>
              </a:ext>
            </a:extLst>
          </p:cNvPr>
          <p:cNvSpPr/>
          <p:nvPr/>
        </p:nvSpPr>
        <p:spPr>
          <a:xfrm>
            <a:off x="6515100" y="19812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 dirty="0"/>
          </a:p>
        </p:txBody>
      </p:sp>
      <p:sp>
        <p:nvSpPr>
          <p:cNvPr id="72" name="AutoShape 7">
            <a:extLst>
              <a:ext uri="{FF2B5EF4-FFF2-40B4-BE49-F238E27FC236}">
                <a16:creationId xmlns:a16="http://schemas.microsoft.com/office/drawing/2014/main" id="{1D0F57BA-3E28-BB14-A0EB-291A24469EB9}"/>
              </a:ext>
            </a:extLst>
          </p:cNvPr>
          <p:cNvSpPr/>
          <p:nvPr/>
        </p:nvSpPr>
        <p:spPr>
          <a:xfrm>
            <a:off x="7138520" y="1824690"/>
            <a:ext cx="2994959" cy="50799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Volatility Modeling</a:t>
            </a:r>
            <a:endParaRPr lang="en-US" sz="1800" dirty="0"/>
          </a:p>
        </p:txBody>
      </p:sp>
      <p:sp>
        <p:nvSpPr>
          <p:cNvPr id="73" name="AutoShape 8">
            <a:extLst>
              <a:ext uri="{FF2B5EF4-FFF2-40B4-BE49-F238E27FC236}">
                <a16:creationId xmlns:a16="http://schemas.microsoft.com/office/drawing/2014/main" id="{68283B3B-13AC-5152-8F0D-37B8985408E6}"/>
              </a:ext>
            </a:extLst>
          </p:cNvPr>
          <p:cNvSpPr/>
          <p:nvPr/>
        </p:nvSpPr>
        <p:spPr>
          <a:xfrm>
            <a:off x="7138520" y="2214093"/>
            <a:ext cx="4243295" cy="97379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GARCH (baseline)</a:t>
            </a: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EGARCH / GJR (asymmetry</a:t>
            </a:r>
            <a:r>
              <a:rPr lang="en-US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)</a:t>
            </a:r>
            <a:endParaRPr lang="en-US" sz="1800" dirty="0"/>
          </a:p>
        </p:txBody>
      </p:sp>
      <p:sp>
        <p:nvSpPr>
          <p:cNvPr id="74" name="AutoShape 4">
            <a:extLst>
              <a:ext uri="{FF2B5EF4-FFF2-40B4-BE49-F238E27FC236}">
                <a16:creationId xmlns:a16="http://schemas.microsoft.com/office/drawing/2014/main" id="{8FCE49B5-22AA-B7A7-593B-B184EA9DAB09}"/>
              </a:ext>
            </a:extLst>
          </p:cNvPr>
          <p:cNvSpPr/>
          <p:nvPr/>
        </p:nvSpPr>
        <p:spPr>
          <a:xfrm>
            <a:off x="6286500" y="3689350"/>
            <a:ext cx="5333253" cy="2032000"/>
          </a:xfrm>
          <a:prstGeom prst="roundRect">
            <a:avLst>
              <a:gd name="adj" fmla="val 8888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5" name="AutoShape 5">
            <a:extLst>
              <a:ext uri="{FF2B5EF4-FFF2-40B4-BE49-F238E27FC236}">
                <a16:creationId xmlns:a16="http://schemas.microsoft.com/office/drawing/2014/main" id="{13248AFA-B174-F73B-6802-CB35177275F3}"/>
              </a:ext>
            </a:extLst>
          </p:cNvPr>
          <p:cNvSpPr/>
          <p:nvPr/>
        </p:nvSpPr>
        <p:spPr>
          <a:xfrm>
            <a:off x="6286499" y="3702050"/>
            <a:ext cx="101599" cy="2019300"/>
          </a:xfrm>
          <a:prstGeom prst="roundRect">
            <a:avLst>
              <a:gd name="adj" fmla="val 0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" name="AutoShape 6">
            <a:extLst>
              <a:ext uri="{FF2B5EF4-FFF2-40B4-BE49-F238E27FC236}">
                <a16:creationId xmlns:a16="http://schemas.microsoft.com/office/drawing/2014/main" id="{2C38A533-623E-DE50-18B0-54AE2831007B}"/>
              </a:ext>
            </a:extLst>
          </p:cNvPr>
          <p:cNvSpPr/>
          <p:nvPr/>
        </p:nvSpPr>
        <p:spPr>
          <a:xfrm>
            <a:off x="6515099" y="427355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 dirty="0"/>
          </a:p>
        </p:txBody>
      </p:sp>
      <p:sp>
        <p:nvSpPr>
          <p:cNvPr id="77" name="AutoShape 7">
            <a:extLst>
              <a:ext uri="{FF2B5EF4-FFF2-40B4-BE49-F238E27FC236}">
                <a16:creationId xmlns:a16="http://schemas.microsoft.com/office/drawing/2014/main" id="{BD6860E9-9C28-7CEE-4095-B8E1DA51BD88}"/>
              </a:ext>
            </a:extLst>
          </p:cNvPr>
          <p:cNvSpPr/>
          <p:nvPr/>
        </p:nvSpPr>
        <p:spPr>
          <a:xfrm>
            <a:off x="7138519" y="4117040"/>
            <a:ext cx="2994959" cy="50799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Risk Application</a:t>
            </a:r>
            <a:endParaRPr lang="en-US" sz="1800" dirty="0"/>
          </a:p>
        </p:txBody>
      </p:sp>
      <p:sp>
        <p:nvSpPr>
          <p:cNvPr id="78" name="AutoShape 8">
            <a:extLst>
              <a:ext uri="{FF2B5EF4-FFF2-40B4-BE49-F238E27FC236}">
                <a16:creationId xmlns:a16="http://schemas.microsoft.com/office/drawing/2014/main" id="{C9BDD18E-38EF-A6FE-BB7F-3C016D181C71}"/>
              </a:ext>
            </a:extLst>
          </p:cNvPr>
          <p:cNvSpPr/>
          <p:nvPr/>
        </p:nvSpPr>
        <p:spPr>
          <a:xfrm>
            <a:off x="7138519" y="4506443"/>
            <a:ext cx="4243295" cy="97379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b="0" i="0" u="none" strike="noStrike" dirty="0" err="1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 estimation   </a:t>
            </a: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 err="1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Backtesting</a:t>
            </a:r>
            <a:r>
              <a:rPr lang="en-US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 (Kupiec test)  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 Motivation &amp; Data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“Why GARCH Models for Volatility?”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397000"/>
            <a:ext cx="5207000" cy="4826000"/>
          </a:xfrm>
          <a:prstGeom prst="roundRect">
            <a:avLst>
              <a:gd name="adj" fmla="val 3157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952500" y="1587500"/>
            <a:ext cx="4826000" cy="635000"/>
          </a:xfrm>
          <a:prstGeom prst="roundRect">
            <a:avLst>
              <a:gd name="adj" fmla="val 16000"/>
            </a:avLst>
          </a:prstGeom>
          <a:solidFill>
            <a:srgbClr val="E0F2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17272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651000" y="1676400"/>
            <a:ext cx="381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Research Background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2413000"/>
            <a:ext cx="4826000" cy="1143000"/>
          </a:xfrm>
          <a:prstGeom prst="roundRect">
            <a:avLst>
              <a:gd name="adj" fmla="val 8888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2603500"/>
            <a:ext cx="457200" cy="4572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778000" y="25400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Empirical Observations</a:t>
            </a:r>
            <a:endParaRPr lang="en-US" dirty="0"/>
          </a:p>
        </p:txBody>
      </p:sp>
      <p:sp>
        <p:nvSpPr>
          <p:cNvPr id="11" name="AutoShape 11"/>
          <p:cNvSpPr/>
          <p:nvPr/>
        </p:nvSpPr>
        <p:spPr>
          <a:xfrm>
            <a:off x="1778000" y="2895600"/>
            <a:ext cx="381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/>
              <a:t>Time-varying volatility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/>
              <a:t>Volatility clustering</a:t>
            </a:r>
          </a:p>
        </p:txBody>
      </p:sp>
      <p:sp>
        <p:nvSpPr>
          <p:cNvPr id="12" name="AutoShape 12"/>
          <p:cNvSpPr/>
          <p:nvPr/>
        </p:nvSpPr>
        <p:spPr>
          <a:xfrm>
            <a:off x="952500" y="3683000"/>
            <a:ext cx="4826000" cy="1016000"/>
          </a:xfrm>
          <a:prstGeom prst="roundRect">
            <a:avLst>
              <a:gd name="adj" fmla="val 10000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3000" y="3873500"/>
            <a:ext cx="457200" cy="4572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778000" y="38100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Implication</a:t>
            </a:r>
            <a:endParaRPr lang="en-US" dirty="0"/>
          </a:p>
        </p:txBody>
      </p:sp>
      <p:sp>
        <p:nvSpPr>
          <p:cNvPr id="15" name="AutoShape 15"/>
          <p:cNvSpPr/>
          <p:nvPr/>
        </p:nvSpPr>
        <p:spPr>
          <a:xfrm>
            <a:off x="1778000" y="4165600"/>
            <a:ext cx="381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Volatility is predictable</a:t>
            </a:r>
            <a:endParaRPr lang="en-US" dirty="0"/>
          </a:p>
        </p:txBody>
      </p:sp>
      <p:sp>
        <p:nvSpPr>
          <p:cNvPr id="16" name="AutoShape 16"/>
          <p:cNvSpPr/>
          <p:nvPr/>
        </p:nvSpPr>
        <p:spPr>
          <a:xfrm>
            <a:off x="952500" y="4826000"/>
            <a:ext cx="4826000" cy="1143000"/>
          </a:xfrm>
          <a:prstGeom prst="roundRect">
            <a:avLst>
              <a:gd name="adj" fmla="val 8888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0" y="5016500"/>
            <a:ext cx="457200" cy="4572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778000" y="49530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Modeling Approach</a:t>
            </a:r>
            <a:endParaRPr lang="en-US" dirty="0"/>
          </a:p>
        </p:txBody>
      </p:sp>
      <p:sp>
        <p:nvSpPr>
          <p:cNvPr id="19" name="AutoShape 19"/>
          <p:cNvSpPr/>
          <p:nvPr/>
        </p:nvSpPr>
        <p:spPr>
          <a:xfrm>
            <a:off x="1790700" y="5149850"/>
            <a:ext cx="381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GARCH family models</a:t>
            </a:r>
            <a:endParaRPr lang="en-US" dirty="0"/>
          </a:p>
        </p:txBody>
      </p:sp>
      <p:sp>
        <p:nvSpPr>
          <p:cNvPr id="20" name="AutoShape 20"/>
          <p:cNvSpPr/>
          <p:nvPr/>
        </p:nvSpPr>
        <p:spPr>
          <a:xfrm>
            <a:off x="6223000" y="1397000"/>
            <a:ext cx="5207000" cy="4826000"/>
          </a:xfrm>
          <a:prstGeom prst="roundRect">
            <a:avLst>
              <a:gd name="adj" fmla="val 3157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6413500" y="1587500"/>
            <a:ext cx="4826000" cy="635000"/>
          </a:xfrm>
          <a:prstGeom prst="roundRect">
            <a:avLst>
              <a:gd name="adj" fmla="val 16000"/>
            </a:avLst>
          </a:prstGeom>
          <a:solidFill>
            <a:srgbClr val="E0F2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04000" y="1727200"/>
            <a:ext cx="355600" cy="3556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12000" y="1676400"/>
            <a:ext cx="381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Research Questions</a:t>
            </a:r>
            <a:endParaRPr lang="en-US" sz="1100" dirty="0"/>
          </a:p>
        </p:txBody>
      </p:sp>
      <p:sp>
        <p:nvSpPr>
          <p:cNvPr id="24" name="AutoShape 24"/>
          <p:cNvSpPr/>
          <p:nvPr/>
        </p:nvSpPr>
        <p:spPr>
          <a:xfrm>
            <a:off x="6413500" y="2413000"/>
            <a:ext cx="4826000" cy="1397000"/>
          </a:xfrm>
          <a:prstGeom prst="roundRect">
            <a:avLst>
              <a:gd name="adj" fmla="val 7272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04000" y="26670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366000" y="2603500"/>
            <a:ext cx="3683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Do complex models improve forecasting performance?</a:t>
            </a:r>
            <a:endParaRPr lang="en-US" dirty="0"/>
          </a:p>
        </p:txBody>
      </p:sp>
      <p:sp>
        <p:nvSpPr>
          <p:cNvPr id="28" name="AutoShape 28"/>
          <p:cNvSpPr/>
          <p:nvPr/>
        </p:nvSpPr>
        <p:spPr>
          <a:xfrm>
            <a:off x="6413500" y="4102100"/>
            <a:ext cx="4826000" cy="1397000"/>
          </a:xfrm>
          <a:prstGeom prst="roundRect">
            <a:avLst>
              <a:gd name="adj" fmla="val 7272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04000" y="4318000"/>
            <a:ext cx="508000" cy="508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7366000" y="4292886"/>
            <a:ext cx="3683000" cy="81251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Can volatility forecasts be used for reliable </a:t>
            </a:r>
            <a:r>
              <a:rPr lang="en-US" sz="16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?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07A23-35E9-3B78-3875-C2DC48623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8F9E80FD-8709-7500-3CA0-6AD6453C832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98C9D2A-7EFB-085F-41EB-A5DB6F7B8286}"/>
              </a:ext>
            </a:extLst>
          </p:cNvPr>
          <p:cNvSpPr/>
          <p:nvPr/>
        </p:nvSpPr>
        <p:spPr>
          <a:xfrm>
            <a:off x="762000" y="508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 Motivation &amp; Data</a:t>
            </a:r>
          </a:p>
          <a:p>
            <a:pPr>
              <a:lnSpc>
                <a:spcPct val="125000"/>
              </a:lnSpc>
              <a:defRPr/>
            </a:pPr>
            <a:r>
              <a:rPr lang="en-US" sz="3200" b="1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Data Description</a:t>
            </a:r>
            <a:endParaRPr lang="en-US" sz="1100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B1F47A61-A3DD-152A-6AD6-DD2FE5EC4147}"/>
              </a:ext>
            </a:extLst>
          </p:cNvPr>
          <p:cNvSpPr/>
          <p:nvPr/>
        </p:nvSpPr>
        <p:spPr>
          <a:xfrm>
            <a:off x="762000" y="1397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FFFFFF">
              <a:alpha val="96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0E11AA0D-E626-53B4-7C34-EB6BA933D898}"/>
              </a:ext>
            </a:extLst>
          </p:cNvPr>
          <p:cNvSpPr/>
          <p:nvPr/>
        </p:nvSpPr>
        <p:spPr>
          <a:xfrm>
            <a:off x="762000" y="1397000"/>
            <a:ext cx="3302000" cy="609600"/>
          </a:xfrm>
          <a:prstGeom prst="roundRect">
            <a:avLst>
              <a:gd name="adj" fmla="val 25000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CE25C122-A55A-C4D5-F90B-31C01E88F8D9}"/>
              </a:ext>
            </a:extLst>
          </p:cNvPr>
          <p:cNvSpPr/>
          <p:nvPr/>
        </p:nvSpPr>
        <p:spPr>
          <a:xfrm>
            <a:off x="952500" y="1524000"/>
            <a:ext cx="2921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Assets Under Study</a:t>
            </a:r>
            <a:endParaRPr lang="en-US" sz="1100"/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7640B607-EB2C-622B-BA15-8841366A94CD}"/>
              </a:ext>
            </a:extLst>
          </p:cNvPr>
          <p:cNvSpPr/>
          <p:nvPr/>
        </p:nvSpPr>
        <p:spPr>
          <a:xfrm>
            <a:off x="952500" y="2222500"/>
            <a:ext cx="2921000" cy="1143000"/>
          </a:xfrm>
          <a:prstGeom prst="roundRect">
            <a:avLst>
              <a:gd name="adj" fmla="val 8888"/>
            </a:avLst>
          </a:prstGeom>
          <a:solidFill>
            <a:srgbClr val="F3F6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C2886004-9B76-92A5-1FCF-41A73CD012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79500" y="2349500"/>
            <a:ext cx="889000" cy="889000"/>
          </a:xfrm>
          <a:prstGeom prst="roundRect">
            <a:avLst>
              <a:gd name="adj" fmla="val 11428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>
            <a:extLst>
              <a:ext uri="{FF2B5EF4-FFF2-40B4-BE49-F238E27FC236}">
                <a16:creationId xmlns:a16="http://schemas.microsoft.com/office/drawing/2014/main" id="{61D86390-7754-7400-25EB-C3F18DA8A7F7}"/>
              </a:ext>
            </a:extLst>
          </p:cNvPr>
          <p:cNvSpPr/>
          <p:nvPr/>
        </p:nvSpPr>
        <p:spPr>
          <a:xfrm>
            <a:off x="2095500" y="2413000"/>
            <a:ext cx="1651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SPY (S&amp;P 500)</a:t>
            </a:r>
            <a:endParaRPr lang="en-US" sz="1100" dirty="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Large-cap U.S. equities</a:t>
            </a:r>
          </a:p>
        </p:txBody>
      </p:sp>
      <p:sp>
        <p:nvSpPr>
          <p:cNvPr id="10" name="AutoShape 10">
            <a:extLst>
              <a:ext uri="{FF2B5EF4-FFF2-40B4-BE49-F238E27FC236}">
                <a16:creationId xmlns:a16="http://schemas.microsoft.com/office/drawing/2014/main" id="{AA861F27-0E7A-A2CC-140C-37D584C6B67A}"/>
              </a:ext>
            </a:extLst>
          </p:cNvPr>
          <p:cNvSpPr/>
          <p:nvPr/>
        </p:nvSpPr>
        <p:spPr>
          <a:xfrm>
            <a:off x="952500" y="3556000"/>
            <a:ext cx="2921000" cy="1143000"/>
          </a:xfrm>
          <a:prstGeom prst="roundRect">
            <a:avLst>
              <a:gd name="adj" fmla="val 8888"/>
            </a:avLst>
          </a:prstGeom>
          <a:solidFill>
            <a:srgbClr val="F3F6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>
            <a:extLst>
              <a:ext uri="{FF2B5EF4-FFF2-40B4-BE49-F238E27FC236}">
                <a16:creationId xmlns:a16="http://schemas.microsoft.com/office/drawing/2014/main" id="{89D1CDF0-AD86-0B2F-357D-907F2167DE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499" r="12500"/>
          <a:stretch>
            <a:fillRect/>
          </a:stretch>
        </p:blipFill>
        <p:spPr>
          <a:xfrm>
            <a:off x="1079500" y="3683000"/>
            <a:ext cx="889000" cy="889000"/>
          </a:xfrm>
          <a:prstGeom prst="roundRect">
            <a:avLst>
              <a:gd name="adj" fmla="val 11428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>
            <a:extLst>
              <a:ext uri="{FF2B5EF4-FFF2-40B4-BE49-F238E27FC236}">
                <a16:creationId xmlns:a16="http://schemas.microsoft.com/office/drawing/2014/main" id="{460F23F3-135C-7EF5-2B98-39608CE0828A}"/>
              </a:ext>
            </a:extLst>
          </p:cNvPr>
          <p:cNvSpPr/>
          <p:nvPr/>
        </p:nvSpPr>
        <p:spPr>
          <a:xfrm>
            <a:off x="2095500" y="3746500"/>
            <a:ext cx="1651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QQQ (Nasdaq-100)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Focuses on U.S. tech and growth-oriented companies.</a:t>
            </a:r>
          </a:p>
        </p:txBody>
      </p:sp>
      <p:sp>
        <p:nvSpPr>
          <p:cNvPr id="13" name="AutoShape 13">
            <a:extLst>
              <a:ext uri="{FF2B5EF4-FFF2-40B4-BE49-F238E27FC236}">
                <a16:creationId xmlns:a16="http://schemas.microsoft.com/office/drawing/2014/main" id="{5574823D-0819-9DA6-D8CF-349894DF6B1E}"/>
              </a:ext>
            </a:extLst>
          </p:cNvPr>
          <p:cNvSpPr/>
          <p:nvPr/>
        </p:nvSpPr>
        <p:spPr>
          <a:xfrm>
            <a:off x="952500" y="4889500"/>
            <a:ext cx="2921000" cy="1143000"/>
          </a:xfrm>
          <a:prstGeom prst="roundRect">
            <a:avLst>
              <a:gd name="adj" fmla="val 8888"/>
            </a:avLst>
          </a:prstGeom>
          <a:solidFill>
            <a:srgbClr val="F3F6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98142884-7DBE-2615-A028-4DDFE8DF6B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79500" y="5016500"/>
            <a:ext cx="889000" cy="889000"/>
          </a:xfrm>
          <a:prstGeom prst="roundRect">
            <a:avLst>
              <a:gd name="adj" fmla="val 11428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>
            <a:extLst>
              <a:ext uri="{FF2B5EF4-FFF2-40B4-BE49-F238E27FC236}">
                <a16:creationId xmlns:a16="http://schemas.microsoft.com/office/drawing/2014/main" id="{BD0B255B-4FC4-1685-2959-D78D938CEE49}"/>
              </a:ext>
            </a:extLst>
          </p:cNvPr>
          <p:cNvSpPr/>
          <p:nvPr/>
        </p:nvSpPr>
        <p:spPr>
          <a:xfrm>
            <a:off x="2095500" y="5080000"/>
            <a:ext cx="1651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DIA (Dow Jones)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Represents 30 blue-chip U.S. industrial stocks.</a:t>
            </a:r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B491A5F1-64FB-8544-4BDA-306924D10F59}"/>
              </a:ext>
            </a:extLst>
          </p:cNvPr>
          <p:cNvSpPr/>
          <p:nvPr/>
        </p:nvSpPr>
        <p:spPr>
          <a:xfrm>
            <a:off x="4445000" y="1397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FFFFFF">
              <a:alpha val="96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7357C6BD-8981-FD6F-18B3-C269B9024B05}"/>
              </a:ext>
            </a:extLst>
          </p:cNvPr>
          <p:cNvSpPr/>
          <p:nvPr/>
        </p:nvSpPr>
        <p:spPr>
          <a:xfrm>
            <a:off x="4445000" y="1397000"/>
            <a:ext cx="3302000" cy="609600"/>
          </a:xfrm>
          <a:prstGeom prst="roundRect">
            <a:avLst>
              <a:gd name="adj" fmla="val 25000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>
            <a:extLst>
              <a:ext uri="{FF2B5EF4-FFF2-40B4-BE49-F238E27FC236}">
                <a16:creationId xmlns:a16="http://schemas.microsoft.com/office/drawing/2014/main" id="{1FE388F0-6CAE-DBF6-1458-962496D5619A}"/>
              </a:ext>
            </a:extLst>
          </p:cNvPr>
          <p:cNvSpPr/>
          <p:nvPr/>
        </p:nvSpPr>
        <p:spPr>
          <a:xfrm>
            <a:off x="4635500" y="1524000"/>
            <a:ext cx="2921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Data Specifications</a:t>
            </a:r>
            <a:endParaRPr lang="en-US" sz="1100"/>
          </a:p>
        </p:txBody>
      </p:sp>
      <p:sp>
        <p:nvSpPr>
          <p:cNvPr id="19" name="AutoShape 19">
            <a:extLst>
              <a:ext uri="{FF2B5EF4-FFF2-40B4-BE49-F238E27FC236}">
                <a16:creationId xmlns:a16="http://schemas.microsoft.com/office/drawing/2014/main" id="{54721B39-ADCD-5BB4-C950-CF11A89A3EF5}"/>
              </a:ext>
            </a:extLst>
          </p:cNvPr>
          <p:cNvSpPr/>
          <p:nvPr/>
        </p:nvSpPr>
        <p:spPr>
          <a:xfrm>
            <a:off x="4635500" y="2222500"/>
            <a:ext cx="2921000" cy="1143000"/>
          </a:xfrm>
          <a:prstGeom prst="roundRect">
            <a:avLst>
              <a:gd name="adj" fmla="val 8888"/>
            </a:avLst>
          </a:prstGeom>
          <a:solidFill>
            <a:srgbClr val="F3F6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>
            <a:extLst>
              <a:ext uri="{FF2B5EF4-FFF2-40B4-BE49-F238E27FC236}">
                <a16:creationId xmlns:a16="http://schemas.microsoft.com/office/drawing/2014/main" id="{0643874B-3ECA-B7D8-A3DD-54EE9F3E3B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6000" y="2476500"/>
            <a:ext cx="609600" cy="609600"/>
          </a:xfrm>
          <a:prstGeom prst="rect">
            <a:avLst/>
          </a:prstGeom>
        </p:spPr>
      </p:pic>
      <p:sp>
        <p:nvSpPr>
          <p:cNvPr id="21" name="AutoShape 21">
            <a:extLst>
              <a:ext uri="{FF2B5EF4-FFF2-40B4-BE49-F238E27FC236}">
                <a16:creationId xmlns:a16="http://schemas.microsoft.com/office/drawing/2014/main" id="{F978B1AB-C012-7EBB-CFA3-B573BAD26258}"/>
              </a:ext>
            </a:extLst>
          </p:cNvPr>
          <p:cNvSpPr/>
          <p:nvPr/>
        </p:nvSpPr>
        <p:spPr>
          <a:xfrm>
            <a:off x="5588000" y="2349500"/>
            <a:ext cx="177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10-Year Timeframe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Jan 2015 - Jan 2025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Covers multiple market cycles</a:t>
            </a: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C4A48031-DCE5-F513-1CCC-16342B1CBEAA}"/>
              </a:ext>
            </a:extLst>
          </p:cNvPr>
          <p:cNvSpPr/>
          <p:nvPr/>
        </p:nvSpPr>
        <p:spPr>
          <a:xfrm>
            <a:off x="4635500" y="3556000"/>
            <a:ext cx="2921000" cy="1143000"/>
          </a:xfrm>
          <a:prstGeom prst="roundRect">
            <a:avLst>
              <a:gd name="adj" fmla="val 8888"/>
            </a:avLst>
          </a:prstGeom>
          <a:solidFill>
            <a:srgbClr val="F3F6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>
            <a:extLst>
              <a:ext uri="{FF2B5EF4-FFF2-40B4-BE49-F238E27FC236}">
                <a16:creationId xmlns:a16="http://schemas.microsoft.com/office/drawing/2014/main" id="{FE6D4D97-3B3C-7707-347D-2DBC699CEB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26000" y="3810000"/>
            <a:ext cx="609600" cy="609600"/>
          </a:xfrm>
          <a:prstGeom prst="rect">
            <a:avLst/>
          </a:prstGeom>
        </p:spPr>
      </p:pic>
      <p:sp>
        <p:nvSpPr>
          <p:cNvPr id="24" name="AutoShape 24">
            <a:extLst>
              <a:ext uri="{FF2B5EF4-FFF2-40B4-BE49-F238E27FC236}">
                <a16:creationId xmlns:a16="http://schemas.microsoft.com/office/drawing/2014/main" id="{BB9A7F7B-2C48-144A-6C6C-86815A3C1292}"/>
              </a:ext>
            </a:extLst>
          </p:cNvPr>
          <p:cNvSpPr/>
          <p:nvPr/>
        </p:nvSpPr>
        <p:spPr>
          <a:xfrm>
            <a:off x="5588000" y="3683000"/>
            <a:ext cx="177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Daily Frequency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Uses official closing prices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Adjusted for splits/dividends</a:t>
            </a:r>
          </a:p>
        </p:txBody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8D01A69D-1AB6-4625-BD8E-A4D48E5C4D24}"/>
              </a:ext>
            </a:extLst>
          </p:cNvPr>
          <p:cNvSpPr/>
          <p:nvPr/>
        </p:nvSpPr>
        <p:spPr>
          <a:xfrm>
            <a:off x="4635500" y="4889500"/>
            <a:ext cx="2921000" cy="1143000"/>
          </a:xfrm>
          <a:prstGeom prst="roundRect">
            <a:avLst>
              <a:gd name="adj" fmla="val 8888"/>
            </a:avLst>
          </a:prstGeom>
          <a:solidFill>
            <a:srgbClr val="F3F6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>
            <a:extLst>
              <a:ext uri="{FF2B5EF4-FFF2-40B4-BE49-F238E27FC236}">
                <a16:creationId xmlns:a16="http://schemas.microsoft.com/office/drawing/2014/main" id="{C96F4A15-FFC6-9756-CCC9-AB7FE3F07F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26000" y="5143500"/>
            <a:ext cx="609600" cy="609600"/>
          </a:xfrm>
          <a:prstGeom prst="rect">
            <a:avLst/>
          </a:prstGeom>
        </p:spPr>
      </p:pic>
      <p:sp>
        <p:nvSpPr>
          <p:cNvPr id="27" name="AutoShape 27">
            <a:extLst>
              <a:ext uri="{FF2B5EF4-FFF2-40B4-BE49-F238E27FC236}">
                <a16:creationId xmlns:a16="http://schemas.microsoft.com/office/drawing/2014/main" id="{3DDFBFBE-F4DC-3E07-DA10-3FD91015EAD4}"/>
              </a:ext>
            </a:extLst>
          </p:cNvPr>
          <p:cNvSpPr/>
          <p:nvPr/>
        </p:nvSpPr>
        <p:spPr>
          <a:xfrm>
            <a:off x="5588000" y="5016500"/>
            <a:ext cx="177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Reliable Source</a:t>
            </a:r>
            <a:endParaRPr lang="en-US" sz="1100" dirty="0"/>
          </a:p>
          <a:p>
            <a:pPr>
              <a:lnSpc>
                <a:spcPct val="125000"/>
              </a:lnSpc>
            </a:pPr>
            <a:r>
              <a:rPr lang="en-US" sz="1100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Yahoo Finance API</a:t>
            </a:r>
            <a:b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Accessed via </a:t>
            </a:r>
            <a:r>
              <a:rPr lang="en-US" sz="1100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(</a:t>
            </a:r>
            <a:r>
              <a:rPr lang="en-US" sz="1100" dirty="0" err="1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yfinance</a:t>
            </a:r>
            <a:r>
              <a:rPr lang="en-US" sz="1100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)</a:t>
            </a:r>
            <a:endParaRPr lang="en-US" sz="1100" b="0" i="0" u="none" strike="noStrike" dirty="0">
              <a:solidFill>
                <a:srgbClr val="666666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28" name="AutoShape 28">
            <a:extLst>
              <a:ext uri="{FF2B5EF4-FFF2-40B4-BE49-F238E27FC236}">
                <a16:creationId xmlns:a16="http://schemas.microsoft.com/office/drawing/2014/main" id="{90F479CC-EA9E-1392-CAAC-D183ADB5B485}"/>
              </a:ext>
            </a:extLst>
          </p:cNvPr>
          <p:cNvSpPr/>
          <p:nvPr/>
        </p:nvSpPr>
        <p:spPr>
          <a:xfrm>
            <a:off x="8128000" y="1397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FFFFFF">
              <a:alpha val="96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>
            <a:extLst>
              <a:ext uri="{FF2B5EF4-FFF2-40B4-BE49-F238E27FC236}">
                <a16:creationId xmlns:a16="http://schemas.microsoft.com/office/drawing/2014/main" id="{E9DF980D-8A0E-5E78-F384-DE8C12BD26CD}"/>
              </a:ext>
            </a:extLst>
          </p:cNvPr>
          <p:cNvSpPr/>
          <p:nvPr/>
        </p:nvSpPr>
        <p:spPr>
          <a:xfrm>
            <a:off x="8128000" y="1397000"/>
            <a:ext cx="3302000" cy="609600"/>
          </a:xfrm>
          <a:prstGeom prst="roundRect">
            <a:avLst>
              <a:gd name="adj" fmla="val 25000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>
            <a:extLst>
              <a:ext uri="{FF2B5EF4-FFF2-40B4-BE49-F238E27FC236}">
                <a16:creationId xmlns:a16="http://schemas.microsoft.com/office/drawing/2014/main" id="{EB6CAC2B-9030-C6DB-E593-554C44C13A74}"/>
              </a:ext>
            </a:extLst>
          </p:cNvPr>
          <p:cNvSpPr/>
          <p:nvPr/>
        </p:nvSpPr>
        <p:spPr>
          <a:xfrm>
            <a:off x="8318500" y="1524000"/>
            <a:ext cx="2921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Data Processing Pipeline</a:t>
            </a:r>
            <a:endParaRPr lang="en-US" sz="1100"/>
          </a:p>
        </p:txBody>
      </p:sp>
      <p:sp>
        <p:nvSpPr>
          <p:cNvPr id="31" name="AutoShape 31">
            <a:extLst>
              <a:ext uri="{FF2B5EF4-FFF2-40B4-BE49-F238E27FC236}">
                <a16:creationId xmlns:a16="http://schemas.microsoft.com/office/drawing/2014/main" id="{91ED2D5A-C97D-E787-A057-6FBC92CDECD4}"/>
              </a:ext>
            </a:extLst>
          </p:cNvPr>
          <p:cNvSpPr/>
          <p:nvPr/>
        </p:nvSpPr>
        <p:spPr>
          <a:xfrm>
            <a:off x="8318500" y="2222500"/>
            <a:ext cx="2921000" cy="1524000"/>
          </a:xfrm>
          <a:prstGeom prst="roundRect">
            <a:avLst>
              <a:gd name="adj" fmla="val 6666"/>
            </a:avLst>
          </a:prstGeom>
          <a:solidFill>
            <a:srgbClr val="F3F6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>
            <a:extLst>
              <a:ext uri="{FF2B5EF4-FFF2-40B4-BE49-F238E27FC236}">
                <a16:creationId xmlns:a16="http://schemas.microsoft.com/office/drawing/2014/main" id="{5823077A-0685-3D75-837E-7C53DD421C07}"/>
              </a:ext>
            </a:extLst>
          </p:cNvPr>
          <p:cNvSpPr/>
          <p:nvPr/>
        </p:nvSpPr>
        <p:spPr>
          <a:xfrm>
            <a:off x="8509000" y="23495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01. Log Returns Calculation</a:t>
            </a:r>
            <a:endParaRPr lang="en-US" sz="1100"/>
          </a:p>
        </p:txBody>
      </p:sp>
      <p:sp>
        <p:nvSpPr>
          <p:cNvPr id="33" name="AutoShape 33">
            <a:extLst>
              <a:ext uri="{FF2B5EF4-FFF2-40B4-BE49-F238E27FC236}">
                <a16:creationId xmlns:a16="http://schemas.microsoft.com/office/drawing/2014/main" id="{F57E2D41-089F-BEC2-0F16-9F7F63CAB577}"/>
              </a:ext>
            </a:extLst>
          </p:cNvPr>
          <p:cNvSpPr/>
          <p:nvPr/>
        </p:nvSpPr>
        <p:spPr>
          <a:xfrm>
            <a:off x="8509000" y="2794000"/>
            <a:ext cx="2540000" cy="635000"/>
          </a:xfrm>
          <a:prstGeom prst="roundRect">
            <a:avLst>
              <a:gd name="adj" fmla="val 12000"/>
            </a:avLst>
          </a:prstGeom>
          <a:solidFill>
            <a:srgbClr val="005F60">
              <a:alpha val="8000"/>
            </a:srgbClr>
          </a:solidFill>
          <a:ln w="12700" cap="flat" cmpd="sng">
            <a:solidFill>
              <a:srgbClr val="005F6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34">
            <a:extLst>
              <a:ext uri="{FF2B5EF4-FFF2-40B4-BE49-F238E27FC236}">
                <a16:creationId xmlns:a16="http://schemas.microsoft.com/office/drawing/2014/main" id="{C58A9E18-2DD5-EA98-3734-0CF8D1C1B13A}"/>
              </a:ext>
            </a:extLst>
          </p:cNvPr>
          <p:cNvSpPr/>
          <p:nvPr/>
        </p:nvSpPr>
        <p:spPr>
          <a:xfrm>
            <a:off x="8509000" y="2921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1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rₜ = ln(Pₜ / Pₜ₋₁)</a:t>
            </a:r>
            <a:endParaRPr lang="en-US" sz="1100"/>
          </a:p>
        </p:txBody>
      </p:sp>
      <p:sp>
        <p:nvSpPr>
          <p:cNvPr id="35" name="AutoShape 35">
            <a:extLst>
              <a:ext uri="{FF2B5EF4-FFF2-40B4-BE49-F238E27FC236}">
                <a16:creationId xmlns:a16="http://schemas.microsoft.com/office/drawing/2014/main" id="{92CE4E46-AC9D-D642-BF88-B9C800BDC7FD}"/>
              </a:ext>
            </a:extLst>
          </p:cNvPr>
          <p:cNvSpPr/>
          <p:nvPr/>
        </p:nvSpPr>
        <p:spPr>
          <a:xfrm>
            <a:off x="8318500" y="3937000"/>
            <a:ext cx="2921000" cy="1651000"/>
          </a:xfrm>
          <a:prstGeom prst="roundRect">
            <a:avLst>
              <a:gd name="adj" fmla="val 6153"/>
            </a:avLst>
          </a:prstGeom>
          <a:solidFill>
            <a:srgbClr val="F3F6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6">
            <a:extLst>
              <a:ext uri="{FF2B5EF4-FFF2-40B4-BE49-F238E27FC236}">
                <a16:creationId xmlns:a16="http://schemas.microsoft.com/office/drawing/2014/main" id="{6B77B8E6-1288-A8EB-3954-57B538E956C7}"/>
              </a:ext>
            </a:extLst>
          </p:cNvPr>
          <p:cNvSpPr/>
          <p:nvPr/>
        </p:nvSpPr>
        <p:spPr>
          <a:xfrm>
            <a:off x="8509000" y="41275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02. Realized Volatility Proxy</a:t>
            </a:r>
            <a:endParaRPr lang="en-US" sz="1100"/>
          </a:p>
        </p:txBody>
      </p:sp>
      <p:sp>
        <p:nvSpPr>
          <p:cNvPr id="37" name="AutoShape 37">
            <a:extLst>
              <a:ext uri="{FF2B5EF4-FFF2-40B4-BE49-F238E27FC236}">
                <a16:creationId xmlns:a16="http://schemas.microsoft.com/office/drawing/2014/main" id="{504C6CCC-E426-17AF-2E3C-EAA78C12823E}"/>
              </a:ext>
            </a:extLst>
          </p:cNvPr>
          <p:cNvSpPr/>
          <p:nvPr/>
        </p:nvSpPr>
        <p:spPr>
          <a:xfrm>
            <a:off x="8509000" y="4572000"/>
            <a:ext cx="2540000" cy="762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" name="AutoShape 38">
            <a:extLst>
              <a:ext uri="{FF2B5EF4-FFF2-40B4-BE49-F238E27FC236}">
                <a16:creationId xmlns:a16="http://schemas.microsoft.com/office/drawing/2014/main" id="{B84401AE-062A-AD63-185B-64540346335F}"/>
              </a:ext>
            </a:extLst>
          </p:cNvPr>
          <p:cNvSpPr/>
          <p:nvPr/>
        </p:nvSpPr>
        <p:spPr>
          <a:xfrm>
            <a:off x="8636000" y="4699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21-day rolling variance as volatility proxy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06797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635876" y="448003"/>
            <a:ext cx="1066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 Motivation &amp; Data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Stylized Fact: Volatility Clustering in ETF Returns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714704" y="2157248"/>
            <a:ext cx="4393324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0" i="0" u="none" strike="noStrike" dirty="0">
                <a:solidFill>
                  <a:srgbClr val="464646"/>
                </a:solidFill>
                <a:latin typeface="Noto Sans SC"/>
                <a:ea typeface="Noto Sans SC"/>
                <a:cs typeface="Noto Sans SC"/>
                <a:sym typeface="Noto Sans SC"/>
              </a:rPr>
              <a:t>Key Observation:</a:t>
            </a:r>
          </a:p>
          <a:p>
            <a:pPr marL="285750" indent="-285750" algn="l">
              <a:lnSpc>
                <a:spcPct val="125000"/>
              </a:lnSpc>
              <a:buFont typeface="Arial" panose="020B0604020202020204" pitchFamily="34" charset="0"/>
              <a:buChar char="•"/>
              <a:defRPr/>
            </a:pPr>
            <a:r>
              <a:rPr lang="en-US" sz="1800" b="0" i="0" u="none" strike="noStrike" dirty="0">
                <a:solidFill>
                  <a:srgbClr val="464646"/>
                </a:solidFill>
                <a:latin typeface="Noto Sans SC"/>
                <a:ea typeface="Noto Sans SC"/>
                <a:cs typeface="Noto Sans SC"/>
                <a:sym typeface="Noto Sans SC"/>
              </a:rPr>
              <a:t> Volatility is time-varying  </a:t>
            </a:r>
          </a:p>
          <a:p>
            <a:pPr marL="285750" indent="-285750" algn="l">
              <a:lnSpc>
                <a:spcPct val="125000"/>
              </a:lnSpc>
              <a:buFont typeface="Arial" panose="020B0604020202020204" pitchFamily="34" charset="0"/>
              <a:buChar char="•"/>
              <a:defRPr/>
            </a:pPr>
            <a:r>
              <a:rPr lang="en-US" sz="1800" b="0" i="0" u="none" strike="noStrike" dirty="0">
                <a:solidFill>
                  <a:srgbClr val="464646"/>
                </a:solidFill>
                <a:latin typeface="Noto Sans SC"/>
                <a:ea typeface="Noto Sans SC"/>
                <a:cs typeface="Noto Sans SC"/>
                <a:sym typeface="Noto Sans SC"/>
              </a:rPr>
              <a:t>Volatility clustering (persistence)  </a:t>
            </a:r>
          </a:p>
          <a:p>
            <a:pPr marL="285750" indent="-285750" algn="l">
              <a:lnSpc>
                <a:spcPct val="125000"/>
              </a:lnSpc>
              <a:buFont typeface="Arial" panose="020B0604020202020204" pitchFamily="34" charset="0"/>
              <a:buChar char="•"/>
              <a:defRPr/>
            </a:pPr>
            <a:r>
              <a:rPr lang="en-US" sz="1800" b="0" i="0" u="none" strike="noStrike" dirty="0">
                <a:solidFill>
                  <a:srgbClr val="464646"/>
                </a:solidFill>
                <a:latin typeface="Noto Sans SC"/>
                <a:ea typeface="Noto Sans SC"/>
                <a:cs typeface="Noto Sans SC"/>
                <a:sym typeface="Noto Sans SC"/>
              </a:rPr>
              <a:t>Extreme events (e.g., 2020)</a:t>
            </a:r>
            <a:endParaRPr lang="en-US" sz="1600" dirty="0"/>
          </a:p>
        </p:txBody>
      </p:sp>
      <p:sp>
        <p:nvSpPr>
          <p:cNvPr id="11" name="AutoShape 11"/>
          <p:cNvSpPr/>
          <p:nvPr/>
        </p:nvSpPr>
        <p:spPr>
          <a:xfrm>
            <a:off x="5530366" y="6028997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 dirty="0">
                <a:solidFill>
                  <a:srgbClr val="787878"/>
                </a:solidFill>
                <a:latin typeface="Noto Sans SC"/>
                <a:ea typeface="Noto Sans SC"/>
                <a:cs typeface="Noto Sans SC"/>
                <a:sym typeface="Noto Sans SC"/>
              </a:rPr>
              <a:t> Figure:  Squared Log Returns (Volatility Proxy)</a:t>
            </a:r>
            <a:endParaRPr lang="en-US" sz="11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89A2DC-0826-BF4C-74E0-6F6E12F01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056" y="1629214"/>
            <a:ext cx="6983248" cy="43853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62000" y="1397000"/>
            <a:ext cx="5207000" cy="4953000"/>
          </a:xfrm>
          <a:prstGeom prst="roundRect">
            <a:avLst>
              <a:gd name="adj" fmla="val 307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5F6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651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Evidence of Non-Normality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1028700" y="2032000"/>
            <a:ext cx="469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1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Non-Normal Returns:</a:t>
            </a:r>
          </a:p>
          <a:p>
            <a:pPr marL="171450" indent="-171450" algn="l">
              <a:lnSpc>
                <a:spcPct val="108333"/>
              </a:lnSpc>
              <a:buFontTx/>
              <a:buChar char="-"/>
              <a:defRPr/>
            </a:pPr>
            <a:r>
              <a:rPr lang="en-US" sz="11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Negative skewness → downside risk</a:t>
            </a:r>
          </a:p>
          <a:p>
            <a:pPr marL="171450" indent="-171450" algn="l">
              <a:lnSpc>
                <a:spcPct val="108333"/>
              </a:lnSpc>
              <a:buFontTx/>
              <a:buChar char="-"/>
              <a:defRPr/>
            </a:pPr>
            <a:r>
              <a:rPr lang="en-US" sz="11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Excess kurtosis → fat tails</a:t>
            </a:r>
            <a:endParaRPr 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889000" y="2794000"/>
            <a:ext cx="4699000" cy="952500"/>
          </a:xfrm>
          <a:prstGeom prst="roundRect">
            <a:avLst>
              <a:gd name="adj" fmla="val 10666"/>
            </a:avLst>
          </a:prstGeom>
          <a:solidFill>
            <a:srgbClr val="005F6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500" y="29845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651000" y="29210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Negative Skewness (Downside Risk)</a:t>
            </a:r>
            <a:endParaRPr lang="en-US" sz="1100" dirty="0"/>
          </a:p>
        </p:txBody>
      </p:sp>
      <p:sp>
        <p:nvSpPr>
          <p:cNvPr id="10" name="AutoShape 10"/>
          <p:cNvSpPr/>
          <p:nvPr/>
        </p:nvSpPr>
        <p:spPr>
          <a:xfrm>
            <a:off x="1651000" y="3251200"/>
            <a:ext cx="381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000" b="0" i="0" u="none" strike="noStrike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Indicates a higher probability of large negative returns, meaning losses are more severe than gains.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89000" y="3873500"/>
            <a:ext cx="4699000" cy="952500"/>
          </a:xfrm>
          <a:prstGeom prst="roundRect">
            <a:avLst>
              <a:gd name="adj" fmla="val 10666"/>
            </a:avLst>
          </a:prstGeom>
          <a:solidFill>
            <a:srgbClr val="005F6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9500" y="40640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651000" y="40005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Excess Kurtosis ("Fat Tails")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651000" y="4330700"/>
            <a:ext cx="381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000" b="0" i="0" u="none" strike="noStrike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Extreme market events (crashes/rallies) occur much more frequently than predicted by a normal distribution.</a:t>
            </a:r>
            <a:endParaRPr lang="en-US" sz="1100"/>
          </a:p>
        </p:txBody>
      </p:sp>
      <p:graphicFrame>
        <p:nvGraphicFramePr>
          <p:cNvPr id="15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8643909"/>
              </p:ext>
            </p:extLst>
          </p:nvPr>
        </p:nvGraphicFramePr>
        <p:xfrm>
          <a:off x="889000" y="4862830"/>
          <a:ext cx="4635500" cy="14046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15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8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8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973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Metric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SPY (S&amp;P500)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QQQ (Nasdaq)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DIA (Dow)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442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 dirty="0">
                          <a:solidFill>
                            <a:srgbClr val="323232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Skewness</a:t>
                      </a:r>
                      <a:endParaRPr lang="en-US" sz="11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3C3C3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-0.8007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3C3C3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-0.5531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3C3C3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-0.9835</a:t>
                      </a:r>
                      <a:endParaRPr lang="en-US" sz="11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442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 cap="none" dirty="0">
                          <a:solidFill>
                            <a:srgbClr val="323232"/>
                          </a:solidFill>
                          <a:latin typeface="Noto Sans SC"/>
                          <a:ea typeface="Noto Sans SC"/>
                          <a:sym typeface="Arial"/>
                        </a:rPr>
                        <a:t>Kurtosis</a:t>
                      </a: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dirty="0"/>
                        <a:t>↑↑</a:t>
                      </a: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dirty="0"/>
                        <a:t>↑↑</a:t>
                      </a: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dirty="0"/>
                        <a:t>↑↑</a:t>
                      </a: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047913"/>
                  </a:ext>
                </a:extLst>
              </a:tr>
            </a:tbl>
          </a:graphicData>
        </a:graphic>
      </p:graphicFrame>
      <p:sp>
        <p:nvSpPr>
          <p:cNvPr id="16" name="AutoShape 16"/>
          <p:cNvSpPr/>
          <p:nvPr/>
        </p:nvSpPr>
        <p:spPr>
          <a:xfrm>
            <a:off x="6223000" y="1397000"/>
            <a:ext cx="4953000" cy="4953000"/>
          </a:xfrm>
          <a:prstGeom prst="roundRect">
            <a:avLst>
              <a:gd name="adj" fmla="val 307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5F6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441948" y="1667164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Evidence of ARCH Effects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6399906" y="1905000"/>
            <a:ext cx="4735115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1450" indent="-171450" algn="l">
              <a:lnSpc>
                <a:spcPct val="116666"/>
              </a:lnSpc>
              <a:buFontTx/>
              <a:buChar char="-"/>
              <a:defRPr/>
            </a:pPr>
            <a:r>
              <a:rPr lang="en-US" sz="11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Significant ACF in squared returns → volatility clustering</a:t>
            </a:r>
          </a:p>
          <a:p>
            <a:pPr marL="171450" indent="-171450" algn="l">
              <a:lnSpc>
                <a:spcPct val="116666"/>
              </a:lnSpc>
              <a:buFontTx/>
              <a:buChar char="-"/>
              <a:defRPr/>
            </a:pPr>
            <a:r>
              <a:rPr lang="en-US" sz="11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ARCH-LM test p-values ≈ 0 → confirms conditional heteroskedasticity</a:t>
            </a:r>
            <a:endParaRPr lang="en-US" sz="1100" dirty="0"/>
          </a:p>
        </p:txBody>
      </p:sp>
      <p:sp>
        <p:nvSpPr>
          <p:cNvPr id="20" name="AutoShape 20"/>
          <p:cNvSpPr/>
          <p:nvPr/>
        </p:nvSpPr>
        <p:spPr>
          <a:xfrm>
            <a:off x="6392979" y="5048250"/>
            <a:ext cx="4445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 dirty="0">
                <a:solidFill>
                  <a:srgbClr val="787878"/>
                </a:solidFill>
                <a:latin typeface="Noto Sans SC"/>
                <a:ea typeface="Noto Sans SC"/>
                <a:cs typeface="Noto Sans SC"/>
                <a:sym typeface="Noto Sans SC"/>
              </a:rPr>
              <a:t>ACF of Squared Returns (SPY)</a:t>
            </a:r>
            <a:endParaRPr lang="en-US" sz="11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8D2C77-B581-B67D-223D-D9A544882C3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16781" y="2921000"/>
            <a:ext cx="5095334" cy="2001520"/>
          </a:xfrm>
          <a:prstGeom prst="rect">
            <a:avLst/>
          </a:prstGeom>
        </p:spPr>
      </p:pic>
      <p:sp>
        <p:nvSpPr>
          <p:cNvPr id="26" name="AutoShape 3">
            <a:extLst>
              <a:ext uri="{FF2B5EF4-FFF2-40B4-BE49-F238E27FC236}">
                <a16:creationId xmlns:a16="http://schemas.microsoft.com/office/drawing/2014/main" id="{E73FDA7D-676A-2E73-14BD-AAF44046E3E5}"/>
              </a:ext>
            </a:extLst>
          </p:cNvPr>
          <p:cNvSpPr/>
          <p:nvPr/>
        </p:nvSpPr>
        <p:spPr>
          <a:xfrm>
            <a:off x="635876" y="448003"/>
            <a:ext cx="1066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 Motivation &amp; Data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Stylized Facts: Non-Normality &amp; ARCH Evidence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2000" y="381000"/>
            <a:ext cx="10924309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02 Volatility Modeling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GARCH Family Models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397000"/>
            <a:ext cx="3302000" cy="4318000"/>
          </a:xfrm>
          <a:prstGeom prst="roundRect">
            <a:avLst>
              <a:gd name="adj" fmla="val 4615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76200" dir="2700000" algn="tl" rotWithShape="0">
              <a:srgbClr val="005F6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3302000" cy="889000"/>
          </a:xfrm>
          <a:prstGeom prst="roundRect">
            <a:avLst>
              <a:gd name="adj" fmla="val 17142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6383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651000" y="1651000"/>
            <a:ext cx="215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Symmetric Model</a:t>
            </a:r>
            <a:endParaRPr 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1016000" y="2540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3D3E"/>
                </a:solidFill>
                <a:latin typeface="Noto Sans SC"/>
                <a:ea typeface="Noto Sans SC"/>
                <a:cs typeface="Noto Sans SC"/>
                <a:sym typeface="Noto Sans SC"/>
              </a:rPr>
              <a:t>GARCH(1,1) (Symmetric)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3048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Model volatility clustering using past shocks and past variance</a:t>
            </a:r>
            <a:endParaRPr lang="en-US" sz="1100" dirty="0"/>
          </a:p>
        </p:txBody>
      </p:sp>
      <p:sp>
        <p:nvSpPr>
          <p:cNvPr id="10" name="AutoShape 10"/>
          <p:cNvSpPr/>
          <p:nvPr/>
        </p:nvSpPr>
        <p:spPr>
          <a:xfrm>
            <a:off x="1016000" y="3937000"/>
            <a:ext cx="2794000" cy="1397000"/>
          </a:xfrm>
          <a:prstGeom prst="roundRect">
            <a:avLst>
              <a:gd name="adj" fmla="val 7272"/>
            </a:avLst>
          </a:prstGeom>
          <a:solidFill>
            <a:srgbClr val="F0F7F7">
              <a:alpha val="100000"/>
            </a:srgbClr>
          </a:solidFill>
          <a:ln w="12700" cap="flat" cmpd="sng">
            <a:solidFill>
              <a:srgbClr val="005F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143000" y="4064000"/>
            <a:ext cx="254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333"/>
              </a:lnSpc>
              <a:defRPr/>
            </a:pPr>
            <a:r>
              <a:rPr lang="en-US" sz="1100" b="0" i="0" u="none" strike="noStrike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σₜ² = ω + αεₜ₋₁²</a:t>
            </a:r>
            <a:br>
              <a:rPr lang="en-US" sz="1100" b="0" i="0" u="none" strike="noStrike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100" b="0" i="0" u="none" strike="noStrike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+ βσₜ₋₁²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4445000" y="1397000"/>
            <a:ext cx="3302000" cy="4318000"/>
          </a:xfrm>
          <a:prstGeom prst="roundRect">
            <a:avLst>
              <a:gd name="adj" fmla="val 4615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76200" dir="2700000" algn="tl" rotWithShape="0">
              <a:srgbClr val="005F6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445000" y="1397000"/>
            <a:ext cx="3302000" cy="889000"/>
          </a:xfrm>
          <a:prstGeom prst="roundRect">
            <a:avLst>
              <a:gd name="adj" fmla="val 17142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9000" y="16383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334000" y="1651000"/>
            <a:ext cx="215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EGARCH (Log-form asymmetry)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4699000" y="2540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3D3E"/>
                </a:solidFill>
                <a:latin typeface="Noto Sans SC"/>
                <a:ea typeface="Noto Sans SC"/>
                <a:cs typeface="Noto Sans SC"/>
                <a:sym typeface="Noto Sans SC"/>
              </a:rPr>
              <a:t>EGARCH (Exponential GARCH)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4699000" y="3048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>
              <a:lnSpc>
                <a:spcPct val="108333"/>
              </a:lnSpc>
              <a:defRPr/>
            </a:pPr>
            <a:r>
              <a:rPr lang="en-US" sz="1200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Model asymmetry and ensures positivity via log variance</a:t>
            </a:r>
          </a:p>
          <a:p>
            <a:pPr>
              <a:lnSpc>
                <a:spcPct val="108333"/>
              </a:lnSpc>
              <a:defRPr/>
            </a:pPr>
            <a:r>
              <a:rPr lang="en-US" sz="1200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Captures the leverage effect (negative shocks increase volatility more)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4699000" y="3937000"/>
            <a:ext cx="2794000" cy="1524000"/>
          </a:xfrm>
          <a:prstGeom prst="roundRect">
            <a:avLst>
              <a:gd name="adj" fmla="val 6666"/>
            </a:avLst>
          </a:prstGeom>
          <a:solidFill>
            <a:srgbClr val="F0F7F7">
              <a:alpha val="100000"/>
            </a:srgbClr>
          </a:solidFill>
          <a:ln w="12700" cap="flat" cmpd="sng">
            <a:solidFill>
              <a:srgbClr val="005F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4826000" y="4064000"/>
            <a:ext cx="2540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r>
              <a:rPr lang="en-US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ln(</a:t>
            </a:r>
            <a:r>
              <a:rPr lang="el-GR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σ_</a:t>
            </a:r>
            <a:r>
              <a:rPr lang="en-US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t²) = </a:t>
            </a:r>
            <a:r>
              <a:rPr lang="el-GR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ω + β </a:t>
            </a:r>
            <a:r>
              <a:rPr lang="en-US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ln(</a:t>
            </a:r>
            <a:r>
              <a:rPr lang="el-GR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σ_{</a:t>
            </a:r>
            <a:r>
              <a:rPr lang="en-US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t-1}²) + </a:t>
            </a:r>
            <a:r>
              <a:rPr lang="el-GR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α (|ε_{</a:t>
            </a:r>
            <a:r>
              <a:rPr lang="en-US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t-1}| / </a:t>
            </a:r>
            <a:r>
              <a:rPr lang="el-GR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σ_{</a:t>
            </a:r>
            <a:r>
              <a:rPr lang="en-US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t-1} − </a:t>
            </a:r>
            <a:r>
              <a:rPr lang="en-US" sz="1000" dirty="0" err="1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E|z</a:t>
            </a:r>
            <a:r>
              <a:rPr lang="en-US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|) + </a:t>
            </a:r>
            <a:r>
              <a:rPr lang="el-GR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γ (ε_{</a:t>
            </a:r>
            <a:r>
              <a:rPr lang="en-US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t-1} / </a:t>
            </a:r>
            <a:r>
              <a:rPr lang="el-GR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σ_{</a:t>
            </a:r>
            <a:r>
              <a:rPr lang="en-US" sz="10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t-1})</a:t>
            </a:r>
            <a:endParaRPr lang="en-US" sz="1100" dirty="0"/>
          </a:p>
        </p:txBody>
      </p:sp>
      <p:sp>
        <p:nvSpPr>
          <p:cNvPr id="20" name="AutoShape 20"/>
          <p:cNvSpPr/>
          <p:nvPr/>
        </p:nvSpPr>
        <p:spPr>
          <a:xfrm>
            <a:off x="8128000" y="1397000"/>
            <a:ext cx="3302000" cy="4318000"/>
          </a:xfrm>
          <a:prstGeom prst="roundRect">
            <a:avLst>
              <a:gd name="adj" fmla="val 4615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76200" dir="2700000" algn="tl" rotWithShape="0">
              <a:srgbClr val="005F6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128000" y="1397000"/>
            <a:ext cx="3302000" cy="889000"/>
          </a:xfrm>
          <a:prstGeom prst="roundRect">
            <a:avLst>
              <a:gd name="adj" fmla="val 17142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55000" y="1644650"/>
            <a:ext cx="406400" cy="4064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8763000" y="16637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GJR-GARCH (Threshold asymmetry)</a:t>
            </a:r>
            <a:endParaRPr lang="en-US" sz="1100" dirty="0"/>
          </a:p>
        </p:txBody>
      </p:sp>
      <p:sp>
        <p:nvSpPr>
          <p:cNvPr id="24" name="AutoShape 24"/>
          <p:cNvSpPr/>
          <p:nvPr/>
        </p:nvSpPr>
        <p:spPr>
          <a:xfrm>
            <a:off x="8382000" y="2540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3D3E"/>
                </a:solidFill>
                <a:latin typeface="Noto Sans SC"/>
                <a:ea typeface="Noto Sans SC"/>
                <a:cs typeface="Noto Sans SC"/>
                <a:sym typeface="Noto Sans SC"/>
              </a:rPr>
              <a:t>GJR-GARCH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382000" y="3048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>
              <a:lnSpc>
                <a:spcPct val="108333"/>
              </a:lnSpc>
              <a:defRPr/>
            </a:pPr>
            <a:r>
              <a:rPr lang="en-US" sz="1200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Captures asymmetric response via an indicator for negative shocks</a:t>
            </a:r>
          </a:p>
          <a:p>
            <a:pPr>
              <a:lnSpc>
                <a:spcPct val="108333"/>
              </a:lnSpc>
              <a:defRPr/>
            </a:pPr>
            <a:r>
              <a:rPr lang="en-US" sz="1200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γ &gt; 0 implies a stronger impact of negative shocks</a:t>
            </a:r>
            <a:endParaRPr lang="en-US" sz="1100" dirty="0"/>
          </a:p>
        </p:txBody>
      </p:sp>
      <p:sp>
        <p:nvSpPr>
          <p:cNvPr id="26" name="AutoShape 26"/>
          <p:cNvSpPr/>
          <p:nvPr/>
        </p:nvSpPr>
        <p:spPr>
          <a:xfrm>
            <a:off x="8382000" y="3937000"/>
            <a:ext cx="2794000" cy="1397000"/>
          </a:xfrm>
          <a:prstGeom prst="roundRect">
            <a:avLst>
              <a:gd name="adj" fmla="val 7272"/>
            </a:avLst>
          </a:prstGeom>
          <a:solidFill>
            <a:srgbClr val="F0F7F7">
              <a:alpha val="100000"/>
            </a:srgbClr>
          </a:solidFill>
          <a:ln w="12700" cap="flat" cmpd="sng">
            <a:solidFill>
              <a:srgbClr val="005F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8509000" y="4064000"/>
            <a:ext cx="254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333"/>
              </a:lnSpc>
              <a:defRPr/>
            </a:pPr>
            <a:r>
              <a:rPr lang="el-GR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σ_</a:t>
            </a:r>
            <a:r>
              <a:rPr lang="en-US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t² = </a:t>
            </a:r>
            <a:r>
              <a:rPr lang="el-GR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ω + α ε_{</a:t>
            </a:r>
            <a:r>
              <a:rPr lang="en-US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t-1}²</a:t>
            </a:r>
          </a:p>
          <a:p>
            <a:pPr indent="0" algn="ctr">
              <a:lnSpc>
                <a:spcPct val="108333"/>
              </a:lnSpc>
              <a:defRPr/>
            </a:pPr>
            <a:r>
              <a:rPr lang="en-US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      + </a:t>
            </a:r>
            <a:r>
              <a:rPr lang="el-GR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γ </a:t>
            </a:r>
            <a:r>
              <a:rPr lang="en-US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I_{t-1} </a:t>
            </a:r>
            <a:r>
              <a:rPr lang="el-GR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ε_{</a:t>
            </a:r>
            <a:r>
              <a:rPr lang="en-US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t-1}²</a:t>
            </a:r>
          </a:p>
          <a:p>
            <a:pPr indent="0" algn="ctr">
              <a:lnSpc>
                <a:spcPct val="108333"/>
              </a:lnSpc>
              <a:defRPr/>
            </a:pPr>
            <a:r>
              <a:rPr lang="en-US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      + </a:t>
            </a:r>
            <a:r>
              <a:rPr lang="el-GR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β σ_{</a:t>
            </a:r>
            <a:r>
              <a:rPr lang="en-US" sz="1100" dirty="0">
                <a:solidFill>
                  <a:srgbClr val="005F60"/>
                </a:solidFill>
                <a:latin typeface="Roboto Mono"/>
                <a:ea typeface="Roboto Mono"/>
                <a:cs typeface="Roboto Mono"/>
                <a:sym typeface="Roboto Mono"/>
              </a:rPr>
              <a:t>t-1}²</a:t>
            </a:r>
            <a:endParaRPr lang="en-US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180BDD-0FB0-C4C2-77F9-E978E37A9F4A}"/>
              </a:ext>
            </a:extLst>
          </p:cNvPr>
          <p:cNvSpPr txBox="1"/>
          <p:nvPr/>
        </p:nvSpPr>
        <p:spPr>
          <a:xfrm>
            <a:off x="3176154" y="59563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  <a:latin typeface="Noto Sans SC"/>
                <a:ea typeface="Noto Sans SC"/>
              </a:rPr>
              <a:t>Based on the stylized facts, we first use GARCH to capture volatility clustering, and then extend to EGARCH and GJR-GARCH to account for asymmetric volatility dynamics.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1999" y="508000"/>
            <a:ext cx="8264957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03 Forecast Evaluation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Out-of-Sample Evaluation Strategy</a:t>
            </a:r>
          </a:p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397000"/>
            <a:ext cx="3556000" cy="4953000"/>
          </a:xfrm>
          <a:prstGeom prst="roundRect">
            <a:avLst>
              <a:gd name="adj" fmla="val 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3556000" cy="762000"/>
          </a:xfrm>
          <a:prstGeom prst="roundRect">
            <a:avLst>
              <a:gd name="adj" fmla="val 20000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5494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1524000"/>
            <a:ext cx="254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Model Estimation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2413000"/>
            <a:ext cx="3048000" cy="1143000"/>
          </a:xfrm>
          <a:prstGeom prst="roundRect">
            <a:avLst>
              <a:gd name="adj" fmla="val 8888"/>
            </a:avLst>
          </a:prstGeom>
          <a:solidFill>
            <a:srgbClr val="005F6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1206500" y="2540000"/>
            <a:ext cx="2667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Core Method: MLE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206500" y="2921000"/>
            <a:ext cx="266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1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We employ Maximum</a:t>
            </a:r>
            <a:r>
              <a:rPr lang="en-US" sz="11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 Likelihood Estimation </a:t>
            </a:r>
            <a:r>
              <a:rPr lang="en-US" sz="11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to estimate the parameters of all models, which is standard in econometric research.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1016000" y="3810000"/>
            <a:ext cx="3048000" cy="1143000"/>
          </a:xfrm>
          <a:prstGeom prst="roundRect">
            <a:avLst>
              <a:gd name="adj" fmla="val 8888"/>
            </a:avLst>
          </a:prstGeom>
          <a:solidFill>
            <a:srgbClr val="005F6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1206500" y="3937000"/>
            <a:ext cx="2667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Distribution Assumption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206500" y="4318000"/>
            <a:ext cx="266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Residuals are assumed to follow a</a:t>
            </a:r>
            <a:r>
              <a:rPr lang="en-US" sz="1100" b="1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Normal Distribution</a:t>
            </a:r>
            <a:r>
              <a:rPr lang="en-US" sz="11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, ensuring the validity of statistical inference in our model.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16000" y="5207000"/>
            <a:ext cx="3048000" cy="762000"/>
          </a:xfrm>
          <a:prstGeom prst="roundRect">
            <a:avLst>
              <a:gd name="adj" fmla="val 13333"/>
            </a:avLst>
          </a:prstGeom>
          <a:solidFill>
            <a:srgbClr val="F3F4F6">
              <a:alpha val="100000"/>
            </a:srgbClr>
          </a:solidFill>
          <a:ln w="12700" cap="flat" cmpd="sng">
            <a:solidFill>
              <a:srgbClr val="005F6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1143000" y="53340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"MLE provides efficient and consistent parameter estimates."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572000" y="1397000"/>
            <a:ext cx="6858000" cy="4953000"/>
          </a:xfrm>
          <a:prstGeom prst="roundRect">
            <a:avLst>
              <a:gd name="adj" fmla="val 307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4572000" y="1397000"/>
            <a:ext cx="6858000" cy="762000"/>
          </a:xfrm>
          <a:prstGeom prst="roundRect">
            <a:avLst>
              <a:gd name="adj" fmla="val 20000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26000" y="15494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5397500" y="1524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Out-of-Sample Forecasting Strategy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826000" y="2286000"/>
            <a:ext cx="635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Rolling Window Approach (Simulating Real-World Scenarios)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826000" y="2794000"/>
            <a:ext cx="3048000" cy="889000"/>
          </a:xfrm>
          <a:prstGeom prst="roundRect">
            <a:avLst>
              <a:gd name="adj" fmla="val 11428"/>
            </a:avLst>
          </a:prstGeom>
          <a:solidFill>
            <a:srgbClr val="F0FDFA">
              <a:alpha val="100000"/>
            </a:srgbClr>
          </a:solidFill>
          <a:ln w="12700" cap="flat" cmpd="sng">
            <a:solidFill>
              <a:srgbClr val="CCFBF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16500" y="29845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461000" y="28956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15E59"/>
                </a:solidFill>
                <a:latin typeface="Noto Sans SC"/>
                <a:ea typeface="Noto Sans SC"/>
                <a:cs typeface="Noto Sans SC"/>
                <a:sym typeface="Noto Sans SC"/>
              </a:rPr>
              <a:t>Training Set (In-sample)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2015-01-01 ~ 2022-12-31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001000" y="2794000"/>
            <a:ext cx="3048000" cy="889000"/>
          </a:xfrm>
          <a:prstGeom prst="roundRect">
            <a:avLst>
              <a:gd name="adj" fmla="val 11428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FEDD5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29845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8636000" y="28956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9A3412"/>
                </a:solidFill>
                <a:latin typeface="Noto Sans SC"/>
                <a:ea typeface="Noto Sans SC"/>
                <a:cs typeface="Noto Sans SC"/>
                <a:sym typeface="Noto Sans SC"/>
              </a:rPr>
              <a:t>Test Set (Out-of-sample)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2023-01-01 ~ 2025-01-01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826000" y="3937000"/>
            <a:ext cx="6350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Iterative Forecasting Process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826000" y="4381500"/>
            <a:ext cx="1460500" cy="1016000"/>
          </a:xfrm>
          <a:prstGeom prst="roundRect">
            <a:avLst>
              <a:gd name="adj" fmla="val 750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4953000" y="4445000"/>
            <a:ext cx="1206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Estimate Params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w/ Initial Train Set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413500" y="4381500"/>
            <a:ext cx="1460500" cy="1016000"/>
          </a:xfrm>
          <a:prstGeom prst="roundRect">
            <a:avLst>
              <a:gd name="adj" fmla="val 750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6540500" y="4445000"/>
            <a:ext cx="1206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Forecast Volatility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for Next Day (t+1)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001000" y="4381500"/>
            <a:ext cx="1460500" cy="1016000"/>
          </a:xfrm>
          <a:prstGeom prst="roundRect">
            <a:avLst>
              <a:gd name="adj" fmla="val 750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" name="AutoShape 33"/>
          <p:cNvSpPr/>
          <p:nvPr/>
        </p:nvSpPr>
        <p:spPr>
          <a:xfrm>
            <a:off x="8001000" y="4445000"/>
            <a:ext cx="1460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b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Roll Window Forward</a:t>
            </a:r>
            <a:b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Add New Observation</a:t>
            </a:r>
            <a:endParaRPr lang="en-US" sz="1100" dirty="0"/>
          </a:p>
        </p:txBody>
      </p:sp>
      <p:sp>
        <p:nvSpPr>
          <p:cNvPr id="34" name="AutoShape 34"/>
          <p:cNvSpPr/>
          <p:nvPr/>
        </p:nvSpPr>
        <p:spPr>
          <a:xfrm>
            <a:off x="9588500" y="4381500"/>
            <a:ext cx="1460500" cy="1016000"/>
          </a:xfrm>
          <a:prstGeom prst="roundRect">
            <a:avLst>
              <a:gd name="adj" fmla="val 750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>
            <a:off x="9715500" y="4445000"/>
            <a:ext cx="1206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Repeat Process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0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Until End of Test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4826000" y="5588000"/>
            <a:ext cx="6350000" cy="508000"/>
          </a:xfrm>
          <a:prstGeom prst="roundRect">
            <a:avLst>
              <a:gd name="adj" fmla="val 20000"/>
            </a:avLst>
          </a:prstGeom>
          <a:solidFill>
            <a:srgbClr val="005F6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53000" y="5689600"/>
            <a:ext cx="304800" cy="3048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5334000" y="5651500"/>
            <a:ext cx="571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Key Benefit: This strict process eliminates "Look-ahead Bias" by only utilizing past information for prediction.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2000" y="508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03 Forecast Evaluation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270000"/>
            <a:ext cx="4953000" cy="4953000"/>
          </a:xfrm>
          <a:prstGeom prst="roundRect">
            <a:avLst>
              <a:gd name="adj" fmla="val 307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5F6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5240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Benchmark: Realized Volatility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032000"/>
            <a:ext cx="444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21-day rolling variance as proxy</a:t>
            </a:r>
          </a:p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Represents “true” volatility.</a:t>
            </a:r>
            <a:endParaRPr lang="en-US" sz="1100" dirty="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t="127" b="127"/>
          <a:stretch>
            <a:fillRect/>
          </a:stretch>
        </p:blipFill>
        <p:spPr>
          <a:xfrm>
            <a:off x="1016000" y="2921000"/>
            <a:ext cx="4445000" cy="2413000"/>
          </a:xfrm>
          <a:prstGeom prst="roundRect">
            <a:avLst>
              <a:gd name="adj" fmla="val 4210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016000" y="5524500"/>
            <a:ext cx="444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69696"/>
                </a:solidFill>
                <a:latin typeface="Noto Sans SC"/>
                <a:ea typeface="Noto Sans SC"/>
                <a:cs typeface="Noto Sans SC"/>
                <a:sym typeface="Noto Sans SC"/>
              </a:rPr>
              <a:t>Figure 1: QQQ 21-day Rolling Realized Variance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5969000" y="1270000"/>
            <a:ext cx="5207000" cy="1524000"/>
          </a:xfrm>
          <a:prstGeom prst="roundRect">
            <a:avLst>
              <a:gd name="adj" fmla="val 1000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5F60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23000" y="1524000"/>
            <a:ext cx="635000" cy="635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12000" y="1460500"/>
            <a:ext cx="3937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Mean Squared Error (MSE)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112000" y="1841500"/>
            <a:ext cx="393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penalizes large errors</a:t>
            </a:r>
            <a:endParaRPr lang="en-US" sz="1100" dirty="0"/>
          </a:p>
        </p:txBody>
      </p:sp>
      <p:sp>
        <p:nvSpPr>
          <p:cNvPr id="13" name="AutoShape 13"/>
          <p:cNvSpPr/>
          <p:nvPr/>
        </p:nvSpPr>
        <p:spPr>
          <a:xfrm>
            <a:off x="7112000" y="2349500"/>
            <a:ext cx="3937000" cy="355600"/>
          </a:xfrm>
          <a:prstGeom prst="roundRect">
            <a:avLst>
              <a:gd name="adj" fmla="val 21428"/>
            </a:avLst>
          </a:prstGeom>
          <a:solidFill>
            <a:srgbClr val="E6F5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7239000" y="2387600"/>
            <a:ext cx="3683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004040"/>
                </a:solidFill>
                <a:latin typeface="Noto Sans SC"/>
                <a:ea typeface="Noto Sans SC"/>
                <a:cs typeface="Noto Sans SC"/>
                <a:sym typeface="Noto Sans SC"/>
              </a:rPr>
              <a:t>MSE = (1/T) Σ (σₜ² - σ̂ₜ²)²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969000" y="2984500"/>
            <a:ext cx="5207000" cy="1524000"/>
          </a:xfrm>
          <a:prstGeom prst="roundRect">
            <a:avLst>
              <a:gd name="adj" fmla="val 1000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5F60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23000" y="3238500"/>
            <a:ext cx="635000" cy="635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112000" y="3175000"/>
            <a:ext cx="3937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Mean Absolute Error (MAE)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112000" y="3556000"/>
            <a:ext cx="393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robust to outliers</a:t>
            </a:r>
            <a:endParaRPr lang="en-US" sz="1100" dirty="0"/>
          </a:p>
        </p:txBody>
      </p:sp>
      <p:sp>
        <p:nvSpPr>
          <p:cNvPr id="19" name="AutoShape 19"/>
          <p:cNvSpPr/>
          <p:nvPr/>
        </p:nvSpPr>
        <p:spPr>
          <a:xfrm>
            <a:off x="7112000" y="4064000"/>
            <a:ext cx="3937000" cy="355600"/>
          </a:xfrm>
          <a:prstGeom prst="roundRect">
            <a:avLst>
              <a:gd name="adj" fmla="val 21428"/>
            </a:avLst>
          </a:prstGeom>
          <a:solidFill>
            <a:srgbClr val="E6F5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7239000" y="4102100"/>
            <a:ext cx="3683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004040"/>
                </a:solidFill>
                <a:latin typeface="Noto Sans SC"/>
                <a:ea typeface="Noto Sans SC"/>
                <a:cs typeface="Noto Sans SC"/>
                <a:sym typeface="Noto Sans SC"/>
              </a:rPr>
              <a:t>MAE = (1/T) Σ |σₜ² - σ̂ₜ²|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5969000" y="4699000"/>
            <a:ext cx="5207000" cy="1524000"/>
          </a:xfrm>
          <a:prstGeom prst="roundRect">
            <a:avLst>
              <a:gd name="adj" fmla="val 1000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5F60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23000" y="4953000"/>
            <a:ext cx="635000" cy="635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12000" y="4889500"/>
            <a:ext cx="3937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QLIKE Loss Function</a:t>
            </a:r>
            <a:endParaRPr lang="en-US" sz="1100" dirty="0"/>
          </a:p>
        </p:txBody>
      </p:sp>
      <p:sp>
        <p:nvSpPr>
          <p:cNvPr id="24" name="AutoShape 24"/>
          <p:cNvSpPr/>
          <p:nvPr/>
        </p:nvSpPr>
        <p:spPr>
          <a:xfrm>
            <a:off x="7112000" y="5270500"/>
            <a:ext cx="393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sensitive to underestimation (important for risk)</a:t>
            </a:r>
            <a:endParaRPr lang="en-US" sz="1100" dirty="0"/>
          </a:p>
        </p:txBody>
      </p:sp>
      <p:sp>
        <p:nvSpPr>
          <p:cNvPr id="25" name="AutoShape 25"/>
          <p:cNvSpPr/>
          <p:nvPr/>
        </p:nvSpPr>
        <p:spPr>
          <a:xfrm>
            <a:off x="7112000" y="5778500"/>
            <a:ext cx="3937000" cy="355600"/>
          </a:xfrm>
          <a:prstGeom prst="roundRect">
            <a:avLst>
              <a:gd name="adj" fmla="val 21428"/>
            </a:avLst>
          </a:prstGeom>
          <a:solidFill>
            <a:srgbClr val="E6F5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7239000" y="5816600"/>
            <a:ext cx="3683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004040"/>
                </a:solidFill>
                <a:latin typeface="Noto Sans SC"/>
                <a:ea typeface="Noto Sans SC"/>
                <a:cs typeface="Noto Sans SC"/>
                <a:sym typeface="Noto Sans SC"/>
              </a:rPr>
              <a:t>QLIKE = (1/T) Σ [ ln(σ̂ₜ²) + (σₜ² / σ̂ₜ²) ]</a:t>
            </a:r>
            <a:endParaRPr lang="en-US" sz="11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EBCDA-DAFA-28D4-0CEE-92D0AE862B36}"/>
              </a:ext>
            </a:extLst>
          </p:cNvPr>
          <p:cNvSpPr txBox="1"/>
          <p:nvPr/>
        </p:nvSpPr>
        <p:spPr>
          <a:xfrm>
            <a:off x="3875228" y="6323111"/>
            <a:ext cx="60972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555555"/>
                </a:solidFill>
                <a:latin typeface="Noto Sans SC"/>
                <a:ea typeface="Noto Sans SC"/>
              </a:rPr>
              <a:t>Lower loss = better forecasting performance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en-US" sz="2400" b="1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Forecast Evaluation</a:t>
            </a:r>
            <a:endParaRPr lang="en-US" sz="2400" b="1" i="0" u="none" strike="noStrike" dirty="0">
              <a:solidFill>
                <a:srgbClr val="005F6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Model Comparison Results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701596"/>
            <a:ext cx="5080000" cy="16510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892096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🔑 Key Finding: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840029" y="2450896"/>
            <a:ext cx="4923942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200" b="1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GARCH(1,1) outperforms all models across assets and metrics</a:t>
            </a:r>
            <a:endParaRPr lang="en-US" sz="1100" b="1" dirty="0"/>
          </a:p>
        </p:txBody>
      </p:sp>
      <p:sp>
        <p:nvSpPr>
          <p:cNvPr id="7" name="AutoShape 7"/>
          <p:cNvSpPr/>
          <p:nvPr/>
        </p:nvSpPr>
        <p:spPr>
          <a:xfrm>
            <a:off x="762000" y="3606596"/>
            <a:ext cx="5080000" cy="1323848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16000" y="3797096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💡 Why complex models fail</a:t>
            </a:r>
            <a:r>
              <a:rPr lang="zh-CN" alt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？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1016000" y="4241596"/>
            <a:ext cx="457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Capture asymmetry in-sample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Worse out-of-sample → overfitting</a:t>
            </a:r>
            <a:endParaRPr lang="en-US" sz="1200" dirty="0"/>
          </a:p>
        </p:txBody>
      </p:sp>
      <p:sp>
        <p:nvSpPr>
          <p:cNvPr id="10" name="AutoShape 10"/>
          <p:cNvSpPr/>
          <p:nvPr/>
        </p:nvSpPr>
        <p:spPr>
          <a:xfrm>
            <a:off x="6604002" y="1334261"/>
            <a:ext cx="4467149" cy="4157269"/>
          </a:xfrm>
          <a:prstGeom prst="roundRect">
            <a:avLst>
              <a:gd name="adj" fmla="val 413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6711698" y="1321562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📊 Forecast Metrics Summary (Lowest in Bold)</a:t>
            </a:r>
            <a:endParaRPr lang="en-US" sz="11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E839363-91D0-00AB-1958-694E7D2B8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2" y="1702562"/>
            <a:ext cx="3920541" cy="38080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04 Value-at-Risk (</a:t>
            </a:r>
            <a:r>
              <a:rPr lang="en-US" sz="3200" b="1" i="0" u="none" strike="noStrike" dirty="0" err="1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) Forecasting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330403" y="1740814"/>
            <a:ext cx="5080000" cy="2641600"/>
          </a:xfrm>
          <a:prstGeom prst="roundRect">
            <a:avLst>
              <a:gd name="adj" fmla="val 923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5400000" algn="tl" rotWithShape="0">
              <a:srgbClr val="005F60">
                <a:alpha val="14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584403" y="1931314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From Volatility Forecast to Risk Measurement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584403" y="2375814"/>
            <a:ext cx="457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3C3C3C"/>
                </a:solidFill>
                <a:latin typeface="Noto Sans SC"/>
                <a:ea typeface="Noto Sans SC"/>
                <a:cs typeface="Noto Sans SC"/>
                <a:sym typeface="Noto Sans SC"/>
              </a:rPr>
              <a:t>Volatility forecasts → input for risk models</a:t>
            </a:r>
          </a:p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3C3C3C"/>
                </a:solidFill>
                <a:latin typeface="Noto Sans SC"/>
                <a:ea typeface="Noto Sans SC"/>
                <a:cs typeface="Noto Sans SC"/>
                <a:sym typeface="Noto Sans SC"/>
              </a:rPr>
              <a:t>We convert σ̂ₜ into </a:t>
            </a:r>
            <a:r>
              <a:rPr lang="en-US" sz="1200" b="0" i="0" u="none" strike="noStrike" dirty="0" err="1">
                <a:solidFill>
                  <a:srgbClr val="3C3C3C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endParaRPr lang="en-US" sz="1200" b="0" i="0" u="none" strike="noStrike" dirty="0">
              <a:solidFill>
                <a:srgbClr val="3C3C3C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3C3C3C"/>
                </a:solidFill>
                <a:latin typeface="Noto Sans SC"/>
                <a:ea typeface="Noto Sans SC"/>
                <a:cs typeface="Noto Sans SC"/>
                <a:sym typeface="Noto Sans SC"/>
              </a:rPr>
              <a:t>Goal: evaluate practical risk usefulness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584403" y="3506114"/>
            <a:ext cx="4572000" cy="533400"/>
          </a:xfrm>
          <a:prstGeom prst="roundRect">
            <a:avLst>
              <a:gd name="adj" fmla="val 19047"/>
            </a:avLst>
          </a:prstGeom>
          <a:solidFill>
            <a:srgbClr val="005F60">
              <a:alpha val="9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57403" y="3595014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4B4C"/>
                </a:solidFill>
                <a:latin typeface="Noto Sans SC"/>
                <a:ea typeface="Noto Sans SC"/>
                <a:cs typeface="Noto Sans SC"/>
                <a:sym typeface="Noto Sans SC"/>
              </a:rPr>
              <a:t>VaRₜ = μ + zₐ × σ̂ₜ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766815" y="1440890"/>
            <a:ext cx="6164275" cy="4996485"/>
          </a:xfrm>
          <a:prstGeom prst="roundRect">
            <a:avLst>
              <a:gd name="adj" fmla="val 3243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5400000" algn="tl" rotWithShape="0">
              <a:srgbClr val="005F60">
                <a:alpha val="14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6020816" y="1631391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Dynamic </a:t>
            </a:r>
            <a:r>
              <a:rPr lang="en-US" sz="1600" b="1" i="0" u="none" strike="noStrike" dirty="0" err="1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 Forecast (QQQ)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6020815" y="5441518"/>
            <a:ext cx="4849571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100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100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 dynamically adjusts to changing volatility conditions</a:t>
            </a:r>
            <a:endParaRPr lang="en-US" sz="11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34D4971-B306-BC38-959A-CB8B2033F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6815" y="2085963"/>
            <a:ext cx="6094782" cy="33555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2000" y="508000"/>
            <a:ext cx="10262006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04 </a:t>
            </a:r>
            <a:r>
              <a:rPr lang="en-US" sz="2400" b="1" i="0" u="none" strike="noStrike" dirty="0" err="1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24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2400" b="1" i="0" u="none" strike="noStrike" dirty="0" err="1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Backtesting</a:t>
            </a:r>
            <a:endParaRPr lang="en-US" sz="2400" b="1" i="0" u="none" strike="noStrike" dirty="0">
              <a:solidFill>
                <a:srgbClr val="005F6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 err="1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 model is well-calibrated and statistically valid</a:t>
            </a:r>
          </a:p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397000"/>
            <a:ext cx="5207000" cy="3683000"/>
          </a:xfrm>
          <a:prstGeom prst="roundRect">
            <a:avLst>
              <a:gd name="adj" fmla="val 4137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587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Failure Rate ≈ Expected Level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1016000" y="2032000"/>
            <a:ext cx="469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Close to 5% (95% </a:t>
            </a:r>
            <a:r>
              <a:rPr lang="en-US" sz="1100" b="0" i="0" u="none" strike="noStrike" dirty="0" err="1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1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)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Close to 1% (99% </a:t>
            </a:r>
            <a:r>
              <a:rPr lang="en-US" sz="1100" b="0" i="0" u="none" strike="noStrike" dirty="0" err="1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1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)</a:t>
            </a:r>
            <a:endParaRPr lang="en-US" sz="11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016000" y="2794000"/>
          <a:ext cx="4699000" cy="186436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Asset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Level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Expected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Actual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QQQ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95%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5.00%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EA580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5.38%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QQQ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99%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1.00%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EA580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1.79%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SPY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95%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5.00%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EA580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5.58%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DIA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95%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5.00%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EA580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4.78%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AutoShape 8"/>
          <p:cNvSpPr/>
          <p:nvPr/>
        </p:nvSpPr>
        <p:spPr>
          <a:xfrm>
            <a:off x="6223000" y="1397000"/>
            <a:ext cx="5207000" cy="3683000"/>
          </a:xfrm>
          <a:prstGeom prst="roundRect">
            <a:avLst>
              <a:gd name="adj" fmla="val 4137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6477000" y="1587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Kupiec Test: No Rejection</a:t>
            </a:r>
            <a:endParaRPr lang="en-US" sz="1100" dirty="0"/>
          </a:p>
        </p:txBody>
      </p:sp>
      <p:sp>
        <p:nvSpPr>
          <p:cNvPr id="10" name="AutoShape 10"/>
          <p:cNvSpPr/>
          <p:nvPr/>
        </p:nvSpPr>
        <p:spPr>
          <a:xfrm>
            <a:off x="6477000" y="2032000"/>
            <a:ext cx="469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A statistical test to formally check if the actual failure rate is significantly different from the expected rate. Null hypothesis: the model is correctly specified.</a:t>
            </a:r>
            <a:endParaRPr lang="en-US" sz="110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477000" y="2794000"/>
          <a:ext cx="4699000" cy="186436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Asset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Level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p-value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Conclusion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F6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QQQ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95%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0.701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6A34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Not Reject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QQQ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99%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0.108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6A34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Not Reject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SPY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95%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0.560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6A34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Not Reject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DIA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95%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0.821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16A34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Not Reject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AutoShape 12"/>
          <p:cNvSpPr/>
          <p:nvPr/>
        </p:nvSpPr>
        <p:spPr>
          <a:xfrm>
            <a:off x="762000" y="5334000"/>
            <a:ext cx="10668000" cy="1143000"/>
          </a:xfrm>
          <a:prstGeom prst="roundRect">
            <a:avLst>
              <a:gd name="adj" fmla="val 13333"/>
            </a:avLst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5524500"/>
            <a:ext cx="609600" cy="6096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905000" y="5676900"/>
            <a:ext cx="927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6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 forecasts pass statistical </a:t>
            </a:r>
            <a:r>
              <a:rPr lang="en-US" sz="1600" b="1" i="0" u="none" strike="noStrike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backtesting</a:t>
            </a:r>
            <a:r>
              <a:rPr lang="en-US" sz="16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 and are reliable for risk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Risk Management Insights</a:t>
            </a:r>
          </a:p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397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5F6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714500"/>
            <a:ext cx="812800" cy="812800"/>
          </a:xfrm>
          <a:prstGeom prst="ellipse">
            <a:avLst/>
          </a:prstGeom>
          <a:solidFill>
            <a:srgbClr val="005F6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9200" y="19177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2032000" y="17145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Dynamic Risk Assessment</a:t>
            </a:r>
            <a:endParaRPr 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2032000" y="2222500"/>
            <a:ext cx="355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Time-varying volatility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 err="1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adapts to market conditions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6223000" y="1397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5F6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6477000" y="1714500"/>
            <a:ext cx="812800" cy="812800"/>
          </a:xfrm>
          <a:prstGeom prst="ellipse">
            <a:avLst/>
          </a:prstGeom>
          <a:solidFill>
            <a:srgbClr val="005F6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80200" y="19177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493000" y="17145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Robustness</a:t>
            </a:r>
            <a:endParaRPr lang="en-US" sz="1100" dirty="0"/>
          </a:p>
        </p:txBody>
      </p:sp>
      <p:sp>
        <p:nvSpPr>
          <p:cNvPr id="13" name="AutoShape 13"/>
          <p:cNvSpPr/>
          <p:nvPr/>
        </p:nvSpPr>
        <p:spPr>
          <a:xfrm>
            <a:off x="7493000" y="2222500"/>
            <a:ext cx="355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GARCH(1,1) outperforms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Out-of-sample &gt; model complexity</a:t>
            </a:r>
            <a:endParaRPr lang="en-US" sz="1100" dirty="0"/>
          </a:p>
        </p:txBody>
      </p:sp>
      <p:sp>
        <p:nvSpPr>
          <p:cNvPr id="14" name="AutoShape 14"/>
          <p:cNvSpPr/>
          <p:nvPr/>
        </p:nvSpPr>
        <p:spPr>
          <a:xfrm>
            <a:off x="762000" y="3937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5F6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5" name="AutoShape 15"/>
          <p:cNvSpPr/>
          <p:nvPr/>
        </p:nvSpPr>
        <p:spPr>
          <a:xfrm>
            <a:off x="1016000" y="4254500"/>
            <a:ext cx="812800" cy="812800"/>
          </a:xfrm>
          <a:prstGeom prst="ellipse">
            <a:avLst/>
          </a:prstGeom>
          <a:solidFill>
            <a:srgbClr val="005F6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9200" y="44577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2032000" y="42545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ES / CVaR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2032000" y="4762500"/>
            <a:ext cx="355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200" b="0" i="0" u="none" strike="noStrike" dirty="0" err="1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misses tail severity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Use ES / CVaR for full risk view  </a:t>
            </a:r>
            <a:endParaRPr lang="en-US" sz="1100" dirty="0"/>
          </a:p>
        </p:txBody>
      </p:sp>
      <p:sp>
        <p:nvSpPr>
          <p:cNvPr id="19" name="AutoShape 19"/>
          <p:cNvSpPr/>
          <p:nvPr/>
        </p:nvSpPr>
        <p:spPr>
          <a:xfrm>
            <a:off x="6223000" y="3937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5F6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6477000" y="4254500"/>
            <a:ext cx="812800" cy="812800"/>
          </a:xfrm>
          <a:prstGeom prst="ellipse">
            <a:avLst/>
          </a:prstGeom>
          <a:solidFill>
            <a:srgbClr val="005F6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80200" y="44577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7493000" y="42545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 err="1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Backtesting</a:t>
            </a:r>
            <a:endParaRPr lang="en-US" sz="1100" dirty="0"/>
          </a:p>
        </p:txBody>
      </p:sp>
      <p:sp>
        <p:nvSpPr>
          <p:cNvPr id="23" name="AutoShape 23"/>
          <p:cNvSpPr/>
          <p:nvPr/>
        </p:nvSpPr>
        <p:spPr>
          <a:xfrm>
            <a:off x="7493000" y="4762500"/>
            <a:ext cx="355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Validate model reliability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Required before real-world use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1999" y="508000"/>
            <a:ext cx="10093757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Limitations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Model performance is subject to distributional assumptions and data limitations</a:t>
            </a:r>
            <a:endParaRPr lang="en-US" sz="3200" b="1" i="0" u="none" strike="noStrike" dirty="0">
              <a:solidFill>
                <a:srgbClr val="005F6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397000"/>
            <a:ext cx="5207000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651000"/>
            <a:ext cx="812800" cy="812800"/>
          </a:xfrm>
          <a:prstGeom prst="ellipse">
            <a:avLst/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9200" y="18542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2032000" y="17145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Distribution Assumption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032000" y="2286000"/>
            <a:ext cx="355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Normality underestimates tail risk</a:t>
            </a:r>
          </a:p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Use fat-tailed distributions (e.g. t)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6223000" y="1397000"/>
            <a:ext cx="5207000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6477000" y="1651000"/>
            <a:ext cx="812800" cy="812800"/>
          </a:xfrm>
          <a:prstGeom prst="ellipse">
            <a:avLst/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80200" y="18542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493000" y="17145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Risk Measure</a:t>
            </a:r>
            <a:endParaRPr lang="en-US" sz="1100" dirty="0"/>
          </a:p>
        </p:txBody>
      </p:sp>
      <p:sp>
        <p:nvSpPr>
          <p:cNvPr id="13" name="AutoShape 13"/>
          <p:cNvSpPr/>
          <p:nvPr/>
        </p:nvSpPr>
        <p:spPr>
          <a:xfrm>
            <a:off x="7493000" y="2286000"/>
            <a:ext cx="355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Focus on </a:t>
            </a:r>
            <a:r>
              <a:rPr lang="en-US" sz="1200" b="0" i="0" u="none" strike="noStrike" dirty="0" err="1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2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 only</a:t>
            </a:r>
          </a:p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Missing tail severity</a:t>
            </a:r>
            <a:endParaRPr lang="en-US" sz="1100" dirty="0"/>
          </a:p>
        </p:txBody>
      </p:sp>
      <p:sp>
        <p:nvSpPr>
          <p:cNvPr id="14" name="AutoShape 14"/>
          <p:cNvSpPr/>
          <p:nvPr/>
        </p:nvSpPr>
        <p:spPr>
          <a:xfrm>
            <a:off x="762000" y="3937000"/>
            <a:ext cx="5207000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1016000" y="4191000"/>
            <a:ext cx="812800" cy="812800"/>
          </a:xfrm>
          <a:prstGeom prst="ellipse">
            <a:avLst/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9200" y="43942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2032000" y="42545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Model Stability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2032000" y="4826000"/>
            <a:ext cx="355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Assumes stable volatility dynamics</a:t>
            </a:r>
          </a:p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May fail under regime shifts</a:t>
            </a:r>
            <a:endParaRPr lang="en-US" sz="1100" dirty="0"/>
          </a:p>
        </p:txBody>
      </p:sp>
      <p:sp>
        <p:nvSpPr>
          <p:cNvPr id="19" name="AutoShape 19"/>
          <p:cNvSpPr/>
          <p:nvPr/>
        </p:nvSpPr>
        <p:spPr>
          <a:xfrm>
            <a:off x="6223000" y="3937000"/>
            <a:ext cx="5207000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6477000" y="4191000"/>
            <a:ext cx="812800" cy="812800"/>
          </a:xfrm>
          <a:prstGeom prst="ellipse">
            <a:avLst/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80200" y="43942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7493000" y="42545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Volatility Proxy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7493000" y="4826000"/>
            <a:ext cx="355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Rolling variance is a rough proxy</a:t>
            </a:r>
          </a:p>
          <a:p>
            <a:pPr marL="171450" indent="-171450" algn="l">
              <a:lnSpc>
                <a:spcPct val="116666"/>
              </a:lnSpc>
              <a:buFont typeface="Arial" panose="020B0604020202020204" pitchFamily="34" charset="0"/>
              <a:buChar char="•"/>
              <a:defRPr/>
            </a:pPr>
            <a:r>
              <a:rPr lang="en-US" sz="1200" b="0" i="0" u="none" strike="noStrike" dirty="0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High-frequency data improves accuracy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Conclusion</a:t>
            </a:r>
          </a:p>
          <a:p>
            <a:pPr>
              <a:lnSpc>
                <a:spcPct val="125000"/>
              </a:lnSpc>
              <a:defRPr/>
            </a:pPr>
            <a:r>
              <a:rPr lang="en-US" sz="2000" b="1" dirty="0">
                <a:solidFill>
                  <a:srgbClr val="005F60"/>
                </a:solidFill>
                <a:latin typeface="Noto Sans SC"/>
                <a:ea typeface="Noto Sans SC"/>
              </a:rPr>
              <a:t>Simple models outperform complex ones and deliver reliable risk estimates</a:t>
            </a:r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5207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1778000"/>
            <a:ext cx="762000" cy="762000"/>
          </a:xfrm>
          <a:prstGeom prst="ellipse">
            <a:avLst/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6500" y="1968500"/>
            <a:ext cx="381000" cy="381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2032000" y="1651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GARCH(1,1) Outperforms</a:t>
            </a:r>
            <a:endParaRPr 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2032000" y="2095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Best out-of-sample performance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Robust across assets</a:t>
            </a:r>
            <a:endParaRPr 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6223000" y="1397000"/>
            <a:ext cx="5207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6477000" y="1778000"/>
            <a:ext cx="762000" cy="762000"/>
          </a:xfrm>
          <a:prstGeom prst="ellipse">
            <a:avLst/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67500" y="1968500"/>
            <a:ext cx="381000" cy="381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493000" y="1651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Reliable </a:t>
            </a:r>
            <a:r>
              <a:rPr lang="en-US" sz="1600" b="1" i="0" u="none" strike="noStrike" dirty="0" err="1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VaR</a:t>
            </a: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 Measure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7493000" y="2095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Well-calibrated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Passes </a:t>
            </a:r>
            <a:r>
              <a:rPr lang="en-US" sz="1100" b="0" i="0" u="none" strike="noStrike" dirty="0" err="1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backtesting</a:t>
            </a:r>
            <a:endParaRPr lang="en-US" sz="1100" dirty="0"/>
          </a:p>
        </p:txBody>
      </p:sp>
      <p:sp>
        <p:nvSpPr>
          <p:cNvPr id="13" name="AutoShape 13"/>
          <p:cNvSpPr/>
          <p:nvPr/>
        </p:nvSpPr>
        <p:spPr>
          <a:xfrm>
            <a:off x="762000" y="3429000"/>
            <a:ext cx="5207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1016000" y="3810000"/>
            <a:ext cx="762000" cy="762000"/>
          </a:xfrm>
          <a:prstGeom prst="ellipse">
            <a:avLst/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6500" y="4000500"/>
            <a:ext cx="381000" cy="381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2032000" y="3683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Practical Implication</a:t>
            </a:r>
            <a:endParaRPr lang="en-US" sz="1100" dirty="0"/>
          </a:p>
        </p:txBody>
      </p:sp>
      <p:sp>
        <p:nvSpPr>
          <p:cNvPr id="17" name="AutoShape 17"/>
          <p:cNvSpPr/>
          <p:nvPr/>
        </p:nvSpPr>
        <p:spPr>
          <a:xfrm>
            <a:off x="2032000" y="4127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Simple models work in practice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Robustness &gt; complexity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6223000" y="3429000"/>
            <a:ext cx="5207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2032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6477000" y="3810000"/>
            <a:ext cx="762000" cy="762000"/>
          </a:xfrm>
          <a:prstGeom prst="ellipse">
            <a:avLst/>
          </a:prstGeom>
          <a:solidFill>
            <a:srgbClr val="005F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500" y="4000500"/>
            <a:ext cx="381000" cy="381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7493000" y="3683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Future Research Directions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493000" y="4127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Fat-tailed distributions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Expected Shortfall (ES)</a:t>
            </a:r>
          </a:p>
          <a:p>
            <a:pPr marL="171450" indent="-171450" algn="l">
              <a:lnSpc>
                <a:spcPct val="108333"/>
              </a:lnSpc>
              <a:buFont typeface="Arial" panose="020B0604020202020204" pitchFamily="34" charset="0"/>
              <a:buChar char="•"/>
              <a:defRPr/>
            </a:pPr>
            <a:r>
              <a:rPr lang="en-US" sz="11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Regime-switching models</a:t>
            </a:r>
            <a:endParaRPr lang="en-US" sz="1100" dirty="0"/>
          </a:p>
        </p:txBody>
      </p:sp>
      <p:sp>
        <p:nvSpPr>
          <p:cNvPr id="23" name="AutoShape 23"/>
          <p:cNvSpPr/>
          <p:nvPr/>
        </p:nvSpPr>
        <p:spPr>
          <a:xfrm>
            <a:off x="762000" y="5461000"/>
            <a:ext cx="10668000" cy="1016000"/>
          </a:xfrm>
          <a:prstGeom prst="roundRect">
            <a:avLst>
              <a:gd name="adj" fmla="val 15000"/>
            </a:avLst>
          </a:prstGeom>
          <a:solidFill>
            <a:srgbClr val="005F6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1016000" y="56134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Overall, this project provides a clear case study on selecting and validating an effective risk management tool through rigorous empirical analysis.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0" y="1651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Thank You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2794000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9600" b="1" i="0" u="none" strike="noStrike">
                <a:solidFill>
                  <a:srgbClr val="005F60"/>
                </a:solidFill>
                <a:latin typeface="Noto Sans SC"/>
                <a:ea typeface="Noto Sans SC"/>
                <a:cs typeface="Noto Sans SC"/>
                <a:sym typeface="Noto Sans SC"/>
              </a:rPr>
              <a:t>Q &amp; A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45720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QUESTIONS &amp; ANSWERS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461000"/>
            <a:ext cx="1219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THANKS FOR YOUR ATTENTION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2489</TotalTime>
  <Words>2073</Words>
  <Application>Microsoft Office PowerPoint</Application>
  <PresentationFormat>Widescreen</PresentationFormat>
  <Paragraphs>346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Noto Sans SC</vt:lpstr>
      <vt:lpstr>Arial</vt:lpstr>
      <vt:lpstr>Roboto Mono</vt:lpstr>
      <vt:lpstr>Office 主题​​</vt:lpstr>
      <vt:lpstr>默认主题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Fenglei Wu</dc:creator>
  <cp:lastModifiedBy>Fenglei Wu</cp:lastModifiedBy>
  <cp:revision>2</cp:revision>
  <dcterms:modified xsi:type="dcterms:W3CDTF">2026-04-18T05:19:02Z</dcterms:modified>
</cp:coreProperties>
</file>